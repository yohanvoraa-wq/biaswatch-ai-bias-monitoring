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8" r:id="rId9"/>
    <p:sldId id="262" r:id="rId10"/>
    <p:sldId id="263" r:id="rId11"/>
    <p:sldId id="269" r:id="rId12"/>
    <p:sldId id="264" r:id="rId13"/>
    <p:sldId id="265" r:id="rId14"/>
    <p:sldId id="266" r:id="rId15"/>
  </p:sldIdLst>
  <p:sldSz cx="18288000" cy="10287000"/>
  <p:notesSz cx="6858000" cy="9144000"/>
  <p:embeddedFontLst>
    <p:embeddedFont>
      <p:font typeface="Calibri (MS)" panose="020B0604020202020204" charset="0"/>
      <p:regular r:id="rId16"/>
    </p:embeddedFont>
    <p:embeddedFont>
      <p:font typeface="Calibri (MS) Bold" panose="020B0604020202020204" charset="0"/>
      <p:regular r:id="rId17"/>
    </p:embeddedFont>
    <p:embeddedFont>
      <p:font typeface="Garet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2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GRAJ SINGH SEVIYA - 70562400012" userId="0b46aedc-91b7-4f02-bb5a-2cc2256042d8" providerId="ADAL" clId="{D3266A2D-D0D6-4544-9679-11A01EF41B9D}"/>
    <pc:docChg chg="undo custSel modSld">
      <pc:chgData name="JUGRAJ SINGH SEVIYA - 70562400012" userId="0b46aedc-91b7-4f02-bb5a-2cc2256042d8" providerId="ADAL" clId="{D3266A2D-D0D6-4544-9679-11A01EF41B9D}" dt="2026-01-25T05:38:28.916" v="176" actId="403"/>
      <pc:docMkLst>
        <pc:docMk/>
      </pc:docMkLst>
      <pc:sldChg chg="addSp delSp modSp mod">
        <pc:chgData name="JUGRAJ SINGH SEVIYA - 70562400012" userId="0b46aedc-91b7-4f02-bb5a-2cc2256042d8" providerId="ADAL" clId="{D3266A2D-D0D6-4544-9679-11A01EF41B9D}" dt="2026-01-25T05:36:38.958" v="107" actId="15"/>
        <pc:sldMkLst>
          <pc:docMk/>
          <pc:sldMk cId="0" sldId="262"/>
        </pc:sldMkLst>
        <pc:spChg chg="add del">
          <ac:chgData name="JUGRAJ SINGH SEVIYA - 70562400012" userId="0b46aedc-91b7-4f02-bb5a-2cc2256042d8" providerId="ADAL" clId="{D3266A2D-D0D6-4544-9679-11A01EF41B9D}" dt="2026-01-25T05:35:29.850" v="1" actId="22"/>
          <ac:spMkLst>
            <pc:docMk/>
            <pc:sldMk cId="0" sldId="262"/>
            <ac:spMk id="27" creationId="{55BAA2FE-EAC1-7590-9AB8-1E4AF707C305}"/>
          </ac:spMkLst>
        </pc:spChg>
        <pc:spChg chg="add mod">
          <ac:chgData name="JUGRAJ SINGH SEVIYA - 70562400012" userId="0b46aedc-91b7-4f02-bb5a-2cc2256042d8" providerId="ADAL" clId="{D3266A2D-D0D6-4544-9679-11A01EF41B9D}" dt="2026-01-25T05:36:38.958" v="107" actId="15"/>
          <ac:spMkLst>
            <pc:docMk/>
            <pc:sldMk cId="0" sldId="262"/>
            <ac:spMk id="29" creationId="{BA9030BE-7565-D946-64DB-D0E26954EB08}"/>
          </ac:spMkLst>
        </pc:spChg>
      </pc:sldChg>
      <pc:sldChg chg="addSp modSp mod">
        <pc:chgData name="JUGRAJ SINGH SEVIYA - 70562400012" userId="0b46aedc-91b7-4f02-bb5a-2cc2256042d8" providerId="ADAL" clId="{D3266A2D-D0D6-4544-9679-11A01EF41B9D}" dt="2026-01-25T05:38:28.916" v="176" actId="403"/>
        <pc:sldMkLst>
          <pc:docMk/>
          <pc:sldMk cId="0" sldId="264"/>
        </pc:sldMkLst>
        <pc:spChg chg="add mod">
          <ac:chgData name="JUGRAJ SINGH SEVIYA - 70562400012" userId="0b46aedc-91b7-4f02-bb5a-2cc2256042d8" providerId="ADAL" clId="{D3266A2D-D0D6-4544-9679-11A01EF41B9D}" dt="2026-01-25T05:38:28.916" v="176" actId="403"/>
          <ac:spMkLst>
            <pc:docMk/>
            <pc:sldMk cId="0" sldId="264"/>
            <ac:spMk id="27" creationId="{12D48C77-D423-6FEE-702C-21B8760A4E6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12124" y="5558842"/>
            <a:ext cx="12027482" cy="3574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endParaRPr dirty="0"/>
          </a:p>
          <a:p>
            <a:pPr algn="l">
              <a:lnSpc>
                <a:spcPts val="3960"/>
              </a:lnSpc>
            </a:pPr>
            <a:r>
              <a:rPr lang="en-US" sz="3300" dirty="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Team Name : Zero to One</a:t>
            </a:r>
          </a:p>
          <a:p>
            <a:pPr algn="l">
              <a:lnSpc>
                <a:spcPts val="3960"/>
              </a:lnSpc>
            </a:pPr>
            <a:r>
              <a:rPr lang="en-US" sz="3300" dirty="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Team Members: Yohan Vora, Devank Surve, Jugraj Singh, Hriday Saraf</a:t>
            </a:r>
          </a:p>
          <a:p>
            <a:pPr algn="l">
              <a:lnSpc>
                <a:spcPts val="3960"/>
              </a:lnSpc>
            </a:pPr>
            <a:r>
              <a:rPr lang="en-US" sz="3300" dirty="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 Statement: Algorithm Bias Drift Over Time</a:t>
            </a:r>
          </a:p>
          <a:p>
            <a:pPr algn="l">
              <a:lnSpc>
                <a:spcPts val="3960"/>
              </a:lnSpc>
            </a:pPr>
            <a:endParaRPr lang="en-US" sz="3300" dirty="0">
              <a:solidFill>
                <a:srgbClr val="595959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960"/>
              </a:lnSpc>
            </a:pPr>
            <a:endParaRPr lang="en-US" sz="3300" dirty="0">
              <a:solidFill>
                <a:srgbClr val="595959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960"/>
              </a:lnSpc>
            </a:pPr>
            <a:endParaRPr lang="en-US" sz="3300" dirty="0">
              <a:solidFill>
                <a:srgbClr val="595959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4058900" y="9415306"/>
            <a:ext cx="3200400" cy="561938"/>
            <a:chOff x="0" y="0"/>
            <a:chExt cx="4267200" cy="7492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67200" cy="749250"/>
            </a:xfrm>
            <a:custGeom>
              <a:avLst/>
              <a:gdLst/>
              <a:ahLst/>
              <a:cxnLst/>
              <a:rect l="l" t="t" r="r" b="b"/>
              <a:pathLst>
                <a:path w="4267200" h="749250">
                  <a:moveTo>
                    <a:pt x="0" y="0"/>
                  </a:moveTo>
                  <a:lnTo>
                    <a:pt x="4267200" y="0"/>
                  </a:lnTo>
                  <a:lnTo>
                    <a:pt x="4267200" y="749250"/>
                  </a:lnTo>
                  <a:lnTo>
                    <a:pt x="0" y="7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4267200" cy="768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525" y="-38100"/>
            <a:ext cx="18335982" cy="1879438"/>
            <a:chOff x="0" y="0"/>
            <a:chExt cx="24447976" cy="2505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448008" cy="2505964"/>
            </a:xfrm>
            <a:custGeom>
              <a:avLst/>
              <a:gdLst/>
              <a:ahLst/>
              <a:cxnLst/>
              <a:rect l="l" t="t" r="r" b="b"/>
              <a:pathLst>
                <a:path w="24448008" h="2505964">
                  <a:moveTo>
                    <a:pt x="0" y="0"/>
                  </a:moveTo>
                  <a:lnTo>
                    <a:pt x="24448008" y="0"/>
                  </a:lnTo>
                  <a:lnTo>
                    <a:pt x="24448008" y="2505964"/>
                  </a:lnTo>
                  <a:lnTo>
                    <a:pt x="0" y="2505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550243" y="2703709"/>
            <a:ext cx="11216469" cy="2059438"/>
            <a:chOff x="0" y="0"/>
            <a:chExt cx="14955292" cy="2745917"/>
          </a:xfrm>
        </p:grpSpPr>
        <p:sp>
          <p:nvSpPr>
            <p:cNvPr id="9" name="Freeform 9"/>
            <p:cNvSpPr/>
            <p:nvPr/>
          </p:nvSpPr>
          <p:spPr>
            <a:xfrm>
              <a:off x="586087" y="767415"/>
              <a:ext cx="1393800" cy="1393800"/>
            </a:xfrm>
            <a:custGeom>
              <a:avLst/>
              <a:gdLst/>
              <a:ahLst/>
              <a:cxnLst/>
              <a:rect l="l" t="t" r="r" b="b"/>
              <a:pathLst>
                <a:path w="1393800" h="1393800">
                  <a:moveTo>
                    <a:pt x="0" y="0"/>
                  </a:moveTo>
                  <a:lnTo>
                    <a:pt x="1393800" y="0"/>
                  </a:lnTo>
                  <a:lnTo>
                    <a:pt x="1393800" y="1393800"/>
                  </a:lnTo>
                  <a:lnTo>
                    <a:pt x="0" y="1393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95521" y="-232356"/>
              <a:ext cx="9353026" cy="2978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56"/>
                </a:lnSpc>
              </a:pPr>
              <a:r>
                <a:rPr lang="en-US" sz="1346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Echel  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48547" y="-247650"/>
              <a:ext cx="3706745" cy="2978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56"/>
                </a:lnSpc>
              </a:pPr>
              <a:r>
                <a:rPr lang="en-US" sz="1346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2.0</a:t>
              </a:r>
            </a:p>
          </p:txBody>
        </p:sp>
        <p:sp>
          <p:nvSpPr>
            <p:cNvPr id="12" name="Freeform 12"/>
            <p:cNvSpPr/>
            <p:nvPr/>
          </p:nvSpPr>
          <p:spPr>
            <a:xfrm rot="1652127">
              <a:off x="8410078" y="916862"/>
              <a:ext cx="1182814" cy="1182814"/>
            </a:xfrm>
            <a:custGeom>
              <a:avLst/>
              <a:gdLst/>
              <a:ahLst/>
              <a:cxnLst/>
              <a:rect l="l" t="t" r="r" b="b"/>
              <a:pathLst>
                <a:path w="1182814" h="1182814">
                  <a:moveTo>
                    <a:pt x="0" y="0"/>
                  </a:moveTo>
                  <a:lnTo>
                    <a:pt x="1182813" y="0"/>
                  </a:lnTo>
                  <a:lnTo>
                    <a:pt x="1182813" y="1182814"/>
                  </a:lnTo>
                  <a:lnTo>
                    <a:pt x="0" y="1182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8832647" y="1339432"/>
              <a:ext cx="337674" cy="337674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16638" tIns="16638" rIns="16638" bIns="16638" rtlCol="0" anchor="ctr"/>
              <a:lstStyle/>
              <a:p>
                <a:pPr algn="ctr">
                  <a:lnSpc>
                    <a:spcPts val="652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0" y="392812"/>
              <a:ext cx="1700412" cy="1775888"/>
            </a:xfrm>
            <a:custGeom>
              <a:avLst/>
              <a:gdLst/>
              <a:ahLst/>
              <a:cxnLst/>
              <a:rect l="l" t="t" r="r" b="b"/>
              <a:pathLst>
                <a:path w="1700412" h="1775888">
                  <a:moveTo>
                    <a:pt x="0" y="0"/>
                  </a:moveTo>
                  <a:lnTo>
                    <a:pt x="1700412" y="0"/>
                  </a:lnTo>
                  <a:lnTo>
                    <a:pt x="1700412" y="1775888"/>
                  </a:lnTo>
                  <a:lnTo>
                    <a:pt x="0" y="1775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Freeform 17"/>
          <p:cNvSpPr/>
          <p:nvPr/>
        </p:nvSpPr>
        <p:spPr>
          <a:xfrm>
            <a:off x="-76962" y="-38100"/>
            <a:ext cx="18488728" cy="1868426"/>
          </a:xfrm>
          <a:custGeom>
            <a:avLst/>
            <a:gdLst/>
            <a:ahLst/>
            <a:cxnLst/>
            <a:rect l="l" t="t" r="r" b="b"/>
            <a:pathLst>
              <a:path w="18488728" h="1868426">
                <a:moveTo>
                  <a:pt x="0" y="0"/>
                </a:moveTo>
                <a:lnTo>
                  <a:pt x="18488728" y="0"/>
                </a:lnTo>
                <a:lnTo>
                  <a:pt x="18488728" y="1868426"/>
                </a:lnTo>
                <a:lnTo>
                  <a:pt x="0" y="18684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442" b="-44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15439606" y="-38100"/>
            <a:ext cx="2972160" cy="1966385"/>
          </a:xfrm>
          <a:custGeom>
            <a:avLst/>
            <a:gdLst/>
            <a:ahLst/>
            <a:cxnLst/>
            <a:rect l="l" t="t" r="r" b="b"/>
            <a:pathLst>
              <a:path w="2972160" h="1966385">
                <a:moveTo>
                  <a:pt x="0" y="0"/>
                </a:moveTo>
                <a:lnTo>
                  <a:pt x="2972160" y="0"/>
                </a:lnTo>
                <a:lnTo>
                  <a:pt x="2972160" y="1966385"/>
                </a:lnTo>
                <a:lnTo>
                  <a:pt x="0" y="196638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442" b="-44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-9525" y="10149893"/>
            <a:ext cx="18336006" cy="146589"/>
          </a:xfrm>
          <a:custGeom>
            <a:avLst/>
            <a:gdLst/>
            <a:ahLst/>
            <a:cxnLst/>
            <a:rect l="l" t="t" r="r" b="b"/>
            <a:pathLst>
              <a:path w="18336006" h="146589">
                <a:moveTo>
                  <a:pt x="0" y="0"/>
                </a:moveTo>
                <a:lnTo>
                  <a:pt x="18336006" y="0"/>
                </a:lnTo>
                <a:lnTo>
                  <a:pt x="18336006" y="146589"/>
                </a:lnTo>
                <a:lnTo>
                  <a:pt x="0" y="1465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0" name="Group 20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1/24/2026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772900" y="10117531"/>
            <a:ext cx="3200400" cy="561976"/>
            <a:chOff x="0" y="0"/>
            <a:chExt cx="4267200" cy="74930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267200" cy="749301"/>
            </a:xfrm>
            <a:custGeom>
              <a:avLst/>
              <a:gdLst/>
              <a:ahLst/>
              <a:cxnLst/>
              <a:rect l="l" t="t" r="r" b="b"/>
              <a:pathLst>
                <a:path w="4267200" h="749301">
                  <a:moveTo>
                    <a:pt x="0" y="0"/>
                  </a:moveTo>
                  <a:lnTo>
                    <a:pt x="4267200" y="0"/>
                  </a:lnTo>
                  <a:lnTo>
                    <a:pt x="4267200" y="749301"/>
                  </a:lnTo>
                  <a:lnTo>
                    <a:pt x="0" y="749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4267200" cy="768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58900" y="9415306"/>
            <a:ext cx="3200400" cy="561938"/>
            <a:chOff x="0" y="0"/>
            <a:chExt cx="4267200" cy="749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67200" cy="749250"/>
            </a:xfrm>
            <a:custGeom>
              <a:avLst/>
              <a:gdLst/>
              <a:ahLst/>
              <a:cxnLst/>
              <a:rect l="l" t="t" r="r" b="b"/>
              <a:pathLst>
                <a:path w="4267200" h="749250">
                  <a:moveTo>
                    <a:pt x="0" y="0"/>
                  </a:moveTo>
                  <a:lnTo>
                    <a:pt x="4267200" y="0"/>
                  </a:lnTo>
                  <a:lnTo>
                    <a:pt x="4267200" y="749250"/>
                  </a:lnTo>
                  <a:lnTo>
                    <a:pt x="0" y="7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267200" cy="768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525" y="-38100"/>
            <a:ext cx="18335982" cy="1879438"/>
            <a:chOff x="0" y="0"/>
            <a:chExt cx="24447976" cy="25059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48008" cy="2505964"/>
            </a:xfrm>
            <a:custGeom>
              <a:avLst/>
              <a:gdLst/>
              <a:ahLst/>
              <a:cxnLst/>
              <a:rect l="l" t="t" r="r" b="b"/>
              <a:pathLst>
                <a:path w="24448008" h="2505964">
                  <a:moveTo>
                    <a:pt x="0" y="0"/>
                  </a:moveTo>
                  <a:lnTo>
                    <a:pt x="24448008" y="0"/>
                  </a:lnTo>
                  <a:lnTo>
                    <a:pt x="24448008" y="2505964"/>
                  </a:lnTo>
                  <a:lnTo>
                    <a:pt x="0" y="2505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76962" y="-38100"/>
            <a:ext cx="18488728" cy="1966385"/>
            <a:chOff x="0" y="0"/>
            <a:chExt cx="24651637" cy="26218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651637" cy="2491235"/>
            </a:xfrm>
            <a:custGeom>
              <a:avLst/>
              <a:gdLst/>
              <a:ahLst/>
              <a:cxnLst/>
              <a:rect l="l" t="t" r="r" b="b"/>
              <a:pathLst>
                <a:path w="24651637" h="2491235">
                  <a:moveTo>
                    <a:pt x="0" y="0"/>
                  </a:moveTo>
                  <a:lnTo>
                    <a:pt x="24651637" y="0"/>
                  </a:lnTo>
                  <a:lnTo>
                    <a:pt x="24651637" y="2491235"/>
                  </a:lnTo>
                  <a:lnTo>
                    <a:pt x="0" y="2491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688757" y="0"/>
              <a:ext cx="3962880" cy="2621846"/>
            </a:xfrm>
            <a:custGeom>
              <a:avLst/>
              <a:gdLst/>
              <a:ahLst/>
              <a:cxnLst/>
              <a:rect l="l" t="t" r="r" b="b"/>
              <a:pathLst>
                <a:path w="3962880" h="2621846">
                  <a:moveTo>
                    <a:pt x="0" y="0"/>
                  </a:moveTo>
                  <a:lnTo>
                    <a:pt x="3962880" y="0"/>
                  </a:lnTo>
                  <a:lnTo>
                    <a:pt x="3962880" y="2621846"/>
                  </a:lnTo>
                  <a:lnTo>
                    <a:pt x="0" y="2621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>
            <a:off x="-9525" y="10149893"/>
            <a:ext cx="18336006" cy="146589"/>
          </a:xfrm>
          <a:custGeom>
            <a:avLst/>
            <a:gdLst/>
            <a:ahLst/>
            <a:cxnLst/>
            <a:rect l="l" t="t" r="r" b="b"/>
            <a:pathLst>
              <a:path w="18336006" h="146589">
                <a:moveTo>
                  <a:pt x="0" y="0"/>
                </a:moveTo>
                <a:lnTo>
                  <a:pt x="18336006" y="0"/>
                </a:lnTo>
                <a:lnTo>
                  <a:pt x="18336006" y="146589"/>
                </a:lnTo>
                <a:lnTo>
                  <a:pt x="0" y="1465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1/24/2026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772900" y="10117531"/>
            <a:ext cx="3200400" cy="561976"/>
            <a:chOff x="0" y="0"/>
            <a:chExt cx="4267200" cy="74930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267200" cy="749301"/>
            </a:xfrm>
            <a:custGeom>
              <a:avLst/>
              <a:gdLst/>
              <a:ahLst/>
              <a:cxnLst/>
              <a:rect l="l" t="t" r="r" b="b"/>
              <a:pathLst>
                <a:path w="4267200" h="749301">
                  <a:moveTo>
                    <a:pt x="0" y="0"/>
                  </a:moveTo>
                  <a:lnTo>
                    <a:pt x="4267200" y="0"/>
                  </a:lnTo>
                  <a:lnTo>
                    <a:pt x="4267200" y="749301"/>
                  </a:lnTo>
                  <a:lnTo>
                    <a:pt x="0" y="749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4267200" cy="768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802390" y="1575860"/>
            <a:ext cx="6683220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Problem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753850" y="355898"/>
            <a:ext cx="2900669" cy="545721"/>
            <a:chOff x="0" y="0"/>
            <a:chExt cx="3867559" cy="727628"/>
          </a:xfrm>
        </p:grpSpPr>
        <p:grpSp>
          <p:nvGrpSpPr>
            <p:cNvPr id="19" name="Group 19"/>
            <p:cNvGrpSpPr/>
            <p:nvPr/>
          </p:nvGrpSpPr>
          <p:grpSpPr>
            <a:xfrm>
              <a:off x="2250130" y="395892"/>
              <a:ext cx="74116" cy="74116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8444" tIns="8444" rIns="8444" bIns="8444" rtlCol="0" anchor="ctr"/>
              <a:lstStyle/>
              <a:p>
                <a:pPr algn="ctr">
                  <a:lnSpc>
                    <a:spcPts val="652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99300" y="-66675"/>
              <a:ext cx="2492296" cy="794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24"/>
                </a:lnSpc>
              </a:pPr>
              <a:r>
                <a:rPr lang="en-US" sz="358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Echel  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91596" y="-66675"/>
              <a:ext cx="975963" cy="785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64"/>
                </a:lnSpc>
              </a:pPr>
              <a:r>
                <a:rPr lang="en-US" sz="354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2.0</a:t>
              </a:r>
            </a:p>
          </p:txBody>
        </p:sp>
        <p:sp>
          <p:nvSpPr>
            <p:cNvPr id="24" name="Freeform 24"/>
            <p:cNvSpPr/>
            <p:nvPr/>
          </p:nvSpPr>
          <p:spPr>
            <a:xfrm rot="1652127">
              <a:off x="2141306" y="287067"/>
              <a:ext cx="291765" cy="291765"/>
            </a:xfrm>
            <a:custGeom>
              <a:avLst/>
              <a:gdLst/>
              <a:ahLst/>
              <a:cxnLst/>
              <a:rect l="l" t="t" r="r" b="b"/>
              <a:pathLst>
                <a:path w="291765" h="291765">
                  <a:moveTo>
                    <a:pt x="0" y="0"/>
                  </a:moveTo>
                  <a:lnTo>
                    <a:pt x="291765" y="0"/>
                  </a:lnTo>
                  <a:lnTo>
                    <a:pt x="291765" y="291766"/>
                  </a:lnTo>
                  <a:lnTo>
                    <a:pt x="0" y="29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150966"/>
              <a:ext cx="399300" cy="417024"/>
            </a:xfrm>
            <a:custGeom>
              <a:avLst/>
              <a:gdLst/>
              <a:ahLst/>
              <a:cxnLst/>
              <a:rect l="l" t="t" r="r" b="b"/>
              <a:pathLst>
                <a:path w="399300" h="417024">
                  <a:moveTo>
                    <a:pt x="0" y="0"/>
                  </a:moveTo>
                  <a:lnTo>
                    <a:pt x="399300" y="0"/>
                  </a:lnTo>
                  <a:lnTo>
                    <a:pt x="399300" y="417024"/>
                  </a:lnTo>
                  <a:lnTo>
                    <a:pt x="0" y="417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9" name="Rectangle 3">
            <a:extLst>
              <a:ext uri="{FF2B5EF4-FFF2-40B4-BE49-F238E27FC236}">
                <a16:creationId xmlns:a16="http://schemas.microsoft.com/office/drawing/2014/main" id="{C7777275-91A1-8903-A232-89559CB85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000" y="3449837"/>
            <a:ext cx="16200000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AI-driven loan approval systems are widely used in finance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Models are trained on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 time,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applicant demographics change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algorithmic bias drift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Bias often goes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undetected after deployment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400" b="1" dirty="0"/>
              <a:t>Why This Matters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dirty="0"/>
              <a:t>Unfair loan rejections for specific groups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dirty="0"/>
              <a:t>Regulatory and compliance risks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dirty="0"/>
              <a:t>Loss of user trust and brand credibility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58900" y="9415306"/>
            <a:ext cx="3200400" cy="561938"/>
            <a:chOff x="0" y="0"/>
            <a:chExt cx="4267200" cy="749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67200" cy="749250"/>
            </a:xfrm>
            <a:custGeom>
              <a:avLst/>
              <a:gdLst/>
              <a:ahLst/>
              <a:cxnLst/>
              <a:rect l="l" t="t" r="r" b="b"/>
              <a:pathLst>
                <a:path w="4267200" h="749250">
                  <a:moveTo>
                    <a:pt x="0" y="0"/>
                  </a:moveTo>
                  <a:lnTo>
                    <a:pt x="4267200" y="0"/>
                  </a:lnTo>
                  <a:lnTo>
                    <a:pt x="4267200" y="749250"/>
                  </a:lnTo>
                  <a:lnTo>
                    <a:pt x="0" y="7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267200" cy="768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525" y="-38100"/>
            <a:ext cx="18335982" cy="1879438"/>
            <a:chOff x="0" y="0"/>
            <a:chExt cx="24447976" cy="25059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48008" cy="2505964"/>
            </a:xfrm>
            <a:custGeom>
              <a:avLst/>
              <a:gdLst/>
              <a:ahLst/>
              <a:cxnLst/>
              <a:rect l="l" t="t" r="r" b="b"/>
              <a:pathLst>
                <a:path w="24448008" h="2505964">
                  <a:moveTo>
                    <a:pt x="0" y="0"/>
                  </a:moveTo>
                  <a:lnTo>
                    <a:pt x="24448008" y="0"/>
                  </a:lnTo>
                  <a:lnTo>
                    <a:pt x="24448008" y="2505964"/>
                  </a:lnTo>
                  <a:lnTo>
                    <a:pt x="0" y="2505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76962" y="-38100"/>
            <a:ext cx="18488728" cy="1966385"/>
            <a:chOff x="0" y="0"/>
            <a:chExt cx="24651637" cy="26218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651637" cy="2491235"/>
            </a:xfrm>
            <a:custGeom>
              <a:avLst/>
              <a:gdLst/>
              <a:ahLst/>
              <a:cxnLst/>
              <a:rect l="l" t="t" r="r" b="b"/>
              <a:pathLst>
                <a:path w="24651637" h="2491235">
                  <a:moveTo>
                    <a:pt x="0" y="0"/>
                  </a:moveTo>
                  <a:lnTo>
                    <a:pt x="24651637" y="0"/>
                  </a:lnTo>
                  <a:lnTo>
                    <a:pt x="24651637" y="2491235"/>
                  </a:lnTo>
                  <a:lnTo>
                    <a:pt x="0" y="2491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688757" y="0"/>
              <a:ext cx="3962880" cy="2621846"/>
            </a:xfrm>
            <a:custGeom>
              <a:avLst/>
              <a:gdLst/>
              <a:ahLst/>
              <a:cxnLst/>
              <a:rect l="l" t="t" r="r" b="b"/>
              <a:pathLst>
                <a:path w="3962880" h="2621846">
                  <a:moveTo>
                    <a:pt x="0" y="0"/>
                  </a:moveTo>
                  <a:lnTo>
                    <a:pt x="3962880" y="0"/>
                  </a:lnTo>
                  <a:lnTo>
                    <a:pt x="3962880" y="2621846"/>
                  </a:lnTo>
                  <a:lnTo>
                    <a:pt x="0" y="2621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>
            <a:off x="-9525" y="10149893"/>
            <a:ext cx="18336006" cy="146589"/>
          </a:xfrm>
          <a:custGeom>
            <a:avLst/>
            <a:gdLst/>
            <a:ahLst/>
            <a:cxnLst/>
            <a:rect l="l" t="t" r="r" b="b"/>
            <a:pathLst>
              <a:path w="18336006" h="146589">
                <a:moveTo>
                  <a:pt x="0" y="0"/>
                </a:moveTo>
                <a:lnTo>
                  <a:pt x="18336006" y="0"/>
                </a:lnTo>
                <a:lnTo>
                  <a:pt x="18336006" y="146589"/>
                </a:lnTo>
                <a:lnTo>
                  <a:pt x="0" y="1465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1/24/2026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772900" y="10117531"/>
            <a:ext cx="3200400" cy="561976"/>
            <a:chOff x="0" y="0"/>
            <a:chExt cx="4267200" cy="74930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267200" cy="749301"/>
            </a:xfrm>
            <a:custGeom>
              <a:avLst/>
              <a:gdLst/>
              <a:ahLst/>
              <a:cxnLst/>
              <a:rect l="l" t="t" r="r" b="b"/>
              <a:pathLst>
                <a:path w="4267200" h="749301">
                  <a:moveTo>
                    <a:pt x="0" y="0"/>
                  </a:moveTo>
                  <a:lnTo>
                    <a:pt x="4267200" y="0"/>
                  </a:lnTo>
                  <a:lnTo>
                    <a:pt x="4267200" y="749301"/>
                  </a:lnTo>
                  <a:lnTo>
                    <a:pt x="0" y="749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4267200" cy="768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802390" y="1575860"/>
            <a:ext cx="6683220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Solution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753850" y="355898"/>
            <a:ext cx="2900669" cy="545721"/>
            <a:chOff x="0" y="0"/>
            <a:chExt cx="3867559" cy="727628"/>
          </a:xfrm>
        </p:grpSpPr>
        <p:grpSp>
          <p:nvGrpSpPr>
            <p:cNvPr id="19" name="Group 19"/>
            <p:cNvGrpSpPr/>
            <p:nvPr/>
          </p:nvGrpSpPr>
          <p:grpSpPr>
            <a:xfrm>
              <a:off x="2250130" y="395892"/>
              <a:ext cx="74116" cy="74116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8444" tIns="8444" rIns="8444" bIns="8444" rtlCol="0" anchor="ctr"/>
              <a:lstStyle/>
              <a:p>
                <a:pPr algn="ctr">
                  <a:lnSpc>
                    <a:spcPts val="652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99300" y="-66675"/>
              <a:ext cx="2492296" cy="794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24"/>
                </a:lnSpc>
              </a:pPr>
              <a:r>
                <a:rPr lang="en-US" sz="358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Echel  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91596" y="-66675"/>
              <a:ext cx="975963" cy="785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64"/>
                </a:lnSpc>
              </a:pPr>
              <a:r>
                <a:rPr lang="en-US" sz="354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2.0</a:t>
              </a:r>
            </a:p>
          </p:txBody>
        </p:sp>
        <p:sp>
          <p:nvSpPr>
            <p:cNvPr id="24" name="Freeform 24"/>
            <p:cNvSpPr/>
            <p:nvPr/>
          </p:nvSpPr>
          <p:spPr>
            <a:xfrm rot="1652127">
              <a:off x="2141306" y="287067"/>
              <a:ext cx="291765" cy="291765"/>
            </a:xfrm>
            <a:custGeom>
              <a:avLst/>
              <a:gdLst/>
              <a:ahLst/>
              <a:cxnLst/>
              <a:rect l="l" t="t" r="r" b="b"/>
              <a:pathLst>
                <a:path w="291765" h="291765">
                  <a:moveTo>
                    <a:pt x="0" y="0"/>
                  </a:moveTo>
                  <a:lnTo>
                    <a:pt x="291765" y="0"/>
                  </a:lnTo>
                  <a:lnTo>
                    <a:pt x="291765" y="291766"/>
                  </a:lnTo>
                  <a:lnTo>
                    <a:pt x="0" y="29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150966"/>
              <a:ext cx="399300" cy="417024"/>
            </a:xfrm>
            <a:custGeom>
              <a:avLst/>
              <a:gdLst/>
              <a:ahLst/>
              <a:cxnLst/>
              <a:rect l="l" t="t" r="r" b="b"/>
              <a:pathLst>
                <a:path w="399300" h="417024">
                  <a:moveTo>
                    <a:pt x="0" y="0"/>
                  </a:moveTo>
                  <a:lnTo>
                    <a:pt x="399300" y="0"/>
                  </a:lnTo>
                  <a:lnTo>
                    <a:pt x="399300" y="417024"/>
                  </a:lnTo>
                  <a:lnTo>
                    <a:pt x="0" y="417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CC279A6-22CB-A374-CD47-498C16C29BCB}"/>
              </a:ext>
            </a:extLst>
          </p:cNvPr>
          <p:cNvSpPr txBox="1"/>
          <p:nvPr/>
        </p:nvSpPr>
        <p:spPr>
          <a:xfrm>
            <a:off x="1044000" y="3337667"/>
            <a:ext cx="162000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– </a:t>
            </a:r>
            <a:r>
              <a:rPr lang="en-US" sz="40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BiasWatch</a:t>
            </a:r>
            <a:endParaRPr lang="en-US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3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BiasWatch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BiasWatch is a post-deployment bias monitoring system designed to detect algorithmic bias drift in AI-driven loan approval systems.</a:t>
            </a:r>
          </a:p>
          <a:p>
            <a:pPr lvl="1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predicting loan outcomes, BiasWatch continuously audits decision behavior to ensure fairness is maintained as real-world conditions change.</a:t>
            </a:r>
          </a:p>
          <a:p>
            <a:pPr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4E933-4437-8170-69DE-EDB1ABB7C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F833A19-A6D8-019A-F4AB-198C96F932A4}"/>
              </a:ext>
            </a:extLst>
          </p:cNvPr>
          <p:cNvGrpSpPr/>
          <p:nvPr/>
        </p:nvGrpSpPr>
        <p:grpSpPr>
          <a:xfrm>
            <a:off x="14058900" y="9415306"/>
            <a:ext cx="3200400" cy="561938"/>
            <a:chOff x="0" y="0"/>
            <a:chExt cx="4267200" cy="7492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8DF1BAC-FCBE-8B33-1D5A-395F4B67B8BD}"/>
                </a:ext>
              </a:extLst>
            </p:cNvPr>
            <p:cNvSpPr/>
            <p:nvPr/>
          </p:nvSpPr>
          <p:spPr>
            <a:xfrm>
              <a:off x="0" y="0"/>
              <a:ext cx="4267200" cy="749250"/>
            </a:xfrm>
            <a:custGeom>
              <a:avLst/>
              <a:gdLst/>
              <a:ahLst/>
              <a:cxnLst/>
              <a:rect l="l" t="t" r="r" b="b"/>
              <a:pathLst>
                <a:path w="4267200" h="749250">
                  <a:moveTo>
                    <a:pt x="0" y="0"/>
                  </a:moveTo>
                  <a:lnTo>
                    <a:pt x="4267200" y="0"/>
                  </a:lnTo>
                  <a:lnTo>
                    <a:pt x="4267200" y="749250"/>
                  </a:lnTo>
                  <a:lnTo>
                    <a:pt x="0" y="7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56535BE-300F-0947-5B24-E4D0847E4C3E}"/>
                </a:ext>
              </a:extLst>
            </p:cNvPr>
            <p:cNvSpPr txBox="1"/>
            <p:nvPr/>
          </p:nvSpPr>
          <p:spPr>
            <a:xfrm>
              <a:off x="0" y="-19050"/>
              <a:ext cx="4267200" cy="768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C6319AA-23E6-33CF-F33C-D3951F2A4DC9}"/>
              </a:ext>
            </a:extLst>
          </p:cNvPr>
          <p:cNvGrpSpPr/>
          <p:nvPr/>
        </p:nvGrpSpPr>
        <p:grpSpPr>
          <a:xfrm>
            <a:off x="-9525" y="-38100"/>
            <a:ext cx="18335982" cy="1879438"/>
            <a:chOff x="0" y="0"/>
            <a:chExt cx="24447976" cy="250591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7F10ACB-2399-7125-620F-478AF3C26C57}"/>
                </a:ext>
              </a:extLst>
            </p:cNvPr>
            <p:cNvSpPr/>
            <p:nvPr/>
          </p:nvSpPr>
          <p:spPr>
            <a:xfrm>
              <a:off x="0" y="0"/>
              <a:ext cx="24448008" cy="2505964"/>
            </a:xfrm>
            <a:custGeom>
              <a:avLst/>
              <a:gdLst/>
              <a:ahLst/>
              <a:cxnLst/>
              <a:rect l="l" t="t" r="r" b="b"/>
              <a:pathLst>
                <a:path w="24448008" h="2505964">
                  <a:moveTo>
                    <a:pt x="0" y="0"/>
                  </a:moveTo>
                  <a:lnTo>
                    <a:pt x="24448008" y="0"/>
                  </a:lnTo>
                  <a:lnTo>
                    <a:pt x="24448008" y="2505964"/>
                  </a:lnTo>
                  <a:lnTo>
                    <a:pt x="0" y="2505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99DE6270-F8BC-E6A2-B6C9-03CC1C478559}"/>
              </a:ext>
            </a:extLst>
          </p:cNvPr>
          <p:cNvGrpSpPr/>
          <p:nvPr/>
        </p:nvGrpSpPr>
        <p:grpSpPr>
          <a:xfrm>
            <a:off x="-76962" y="-38100"/>
            <a:ext cx="18488728" cy="1966385"/>
            <a:chOff x="0" y="0"/>
            <a:chExt cx="24651637" cy="2621846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82E1166-5F74-DA34-B4DF-B0E58D4F9387}"/>
                </a:ext>
              </a:extLst>
            </p:cNvPr>
            <p:cNvSpPr/>
            <p:nvPr/>
          </p:nvSpPr>
          <p:spPr>
            <a:xfrm>
              <a:off x="0" y="0"/>
              <a:ext cx="24651637" cy="2491235"/>
            </a:xfrm>
            <a:custGeom>
              <a:avLst/>
              <a:gdLst/>
              <a:ahLst/>
              <a:cxnLst/>
              <a:rect l="l" t="t" r="r" b="b"/>
              <a:pathLst>
                <a:path w="24651637" h="2491235">
                  <a:moveTo>
                    <a:pt x="0" y="0"/>
                  </a:moveTo>
                  <a:lnTo>
                    <a:pt x="24651637" y="0"/>
                  </a:lnTo>
                  <a:lnTo>
                    <a:pt x="24651637" y="2491235"/>
                  </a:lnTo>
                  <a:lnTo>
                    <a:pt x="0" y="2491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AB858CF-F8B0-5B3D-E5D7-415768B8C813}"/>
                </a:ext>
              </a:extLst>
            </p:cNvPr>
            <p:cNvSpPr/>
            <p:nvPr/>
          </p:nvSpPr>
          <p:spPr>
            <a:xfrm>
              <a:off x="20688757" y="0"/>
              <a:ext cx="3962880" cy="2621846"/>
            </a:xfrm>
            <a:custGeom>
              <a:avLst/>
              <a:gdLst/>
              <a:ahLst/>
              <a:cxnLst/>
              <a:rect l="l" t="t" r="r" b="b"/>
              <a:pathLst>
                <a:path w="3962880" h="2621846">
                  <a:moveTo>
                    <a:pt x="0" y="0"/>
                  </a:moveTo>
                  <a:lnTo>
                    <a:pt x="3962880" y="0"/>
                  </a:lnTo>
                  <a:lnTo>
                    <a:pt x="3962880" y="2621846"/>
                  </a:lnTo>
                  <a:lnTo>
                    <a:pt x="0" y="2621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04A93891-2D32-4A51-1CFD-14DC9894ACAA}"/>
              </a:ext>
            </a:extLst>
          </p:cNvPr>
          <p:cNvSpPr/>
          <p:nvPr/>
        </p:nvSpPr>
        <p:spPr>
          <a:xfrm>
            <a:off x="-9525" y="10149893"/>
            <a:ext cx="18336006" cy="146589"/>
          </a:xfrm>
          <a:custGeom>
            <a:avLst/>
            <a:gdLst/>
            <a:ahLst/>
            <a:cxnLst/>
            <a:rect l="l" t="t" r="r" b="b"/>
            <a:pathLst>
              <a:path w="18336006" h="146589">
                <a:moveTo>
                  <a:pt x="0" y="0"/>
                </a:moveTo>
                <a:lnTo>
                  <a:pt x="18336006" y="0"/>
                </a:lnTo>
                <a:lnTo>
                  <a:pt x="18336006" y="146589"/>
                </a:lnTo>
                <a:lnTo>
                  <a:pt x="0" y="1465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CF448E7-BA17-1DAE-61C1-144CEEB0D0E9}"/>
              </a:ext>
            </a:extLst>
          </p:cNvPr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BFFED7A-AE56-2549-972E-5D615E8CC6FC}"/>
                </a:ext>
              </a:extLst>
            </p:cNvPr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035B93AF-D444-9202-FB9F-84A5B5063073}"/>
                </a:ext>
              </a:extLst>
            </p:cNvPr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1/24/2026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D1548ACA-B02D-67A6-BB49-C2425D420AD6}"/>
              </a:ext>
            </a:extLst>
          </p:cNvPr>
          <p:cNvGrpSpPr/>
          <p:nvPr/>
        </p:nvGrpSpPr>
        <p:grpSpPr>
          <a:xfrm>
            <a:off x="11772900" y="10117531"/>
            <a:ext cx="3200400" cy="561976"/>
            <a:chOff x="0" y="0"/>
            <a:chExt cx="4267200" cy="749301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4D3393B8-636D-9CA0-6026-0D9AD02C40F7}"/>
                </a:ext>
              </a:extLst>
            </p:cNvPr>
            <p:cNvSpPr/>
            <p:nvPr/>
          </p:nvSpPr>
          <p:spPr>
            <a:xfrm>
              <a:off x="0" y="0"/>
              <a:ext cx="4267200" cy="749301"/>
            </a:xfrm>
            <a:custGeom>
              <a:avLst/>
              <a:gdLst/>
              <a:ahLst/>
              <a:cxnLst/>
              <a:rect l="l" t="t" r="r" b="b"/>
              <a:pathLst>
                <a:path w="4267200" h="749301">
                  <a:moveTo>
                    <a:pt x="0" y="0"/>
                  </a:moveTo>
                  <a:lnTo>
                    <a:pt x="4267200" y="0"/>
                  </a:lnTo>
                  <a:lnTo>
                    <a:pt x="4267200" y="749301"/>
                  </a:lnTo>
                  <a:lnTo>
                    <a:pt x="0" y="749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74A1A797-1901-BB61-AFD1-DFAB9F14ECE4}"/>
                </a:ext>
              </a:extLst>
            </p:cNvPr>
            <p:cNvSpPr txBox="1"/>
            <p:nvPr/>
          </p:nvSpPr>
          <p:spPr>
            <a:xfrm>
              <a:off x="0" y="-19050"/>
              <a:ext cx="4267200" cy="768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1585D23F-ADF6-725A-EF05-4B530F7F9F01}"/>
              </a:ext>
            </a:extLst>
          </p:cNvPr>
          <p:cNvSpPr txBox="1"/>
          <p:nvPr/>
        </p:nvSpPr>
        <p:spPr>
          <a:xfrm>
            <a:off x="5802390" y="1575860"/>
            <a:ext cx="6683220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Solution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D9773492-D765-2A8D-B2B5-19607791D87F}"/>
              </a:ext>
            </a:extLst>
          </p:cNvPr>
          <p:cNvGrpSpPr/>
          <p:nvPr/>
        </p:nvGrpSpPr>
        <p:grpSpPr>
          <a:xfrm>
            <a:off x="11753850" y="355898"/>
            <a:ext cx="2900669" cy="545721"/>
            <a:chOff x="0" y="0"/>
            <a:chExt cx="3867559" cy="727628"/>
          </a:xfrm>
        </p:grpSpPr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75F58F3D-497C-F09C-CC5D-D892D10F5B51}"/>
                </a:ext>
              </a:extLst>
            </p:cNvPr>
            <p:cNvGrpSpPr/>
            <p:nvPr/>
          </p:nvGrpSpPr>
          <p:grpSpPr>
            <a:xfrm>
              <a:off x="2250130" y="395892"/>
              <a:ext cx="74116" cy="74116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62B40D13-C371-2A90-D628-4A8217263AA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076C92D5-50A8-C87A-F04C-CB2D32865DCD}"/>
                  </a:ext>
                </a:extLst>
              </p:cNvPr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8444" tIns="8444" rIns="8444" bIns="8444" rtlCol="0" anchor="ctr"/>
              <a:lstStyle/>
              <a:p>
                <a:pPr algn="ctr">
                  <a:lnSpc>
                    <a:spcPts val="652"/>
                  </a:lnSpc>
                </a:pPr>
                <a:endParaRPr/>
              </a:p>
            </p:txBody>
          </p:sp>
        </p:grp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A2202BBC-21CD-5D00-D5C3-C89EA3ED72AD}"/>
                </a:ext>
              </a:extLst>
            </p:cNvPr>
            <p:cNvSpPr txBox="1"/>
            <p:nvPr/>
          </p:nvSpPr>
          <p:spPr>
            <a:xfrm>
              <a:off x="399300" y="-66675"/>
              <a:ext cx="2492296" cy="794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24"/>
                </a:lnSpc>
              </a:pPr>
              <a:r>
                <a:rPr lang="en-US" sz="358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Echel  n</a:t>
              </a: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81A4996A-B82B-EC83-91A3-EEC9F4013900}"/>
                </a:ext>
              </a:extLst>
            </p:cNvPr>
            <p:cNvSpPr txBox="1"/>
            <p:nvPr/>
          </p:nvSpPr>
          <p:spPr>
            <a:xfrm>
              <a:off x="2891596" y="-66675"/>
              <a:ext cx="975963" cy="785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64"/>
                </a:lnSpc>
              </a:pPr>
              <a:r>
                <a:rPr lang="en-US" sz="354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2.0</a:t>
              </a:r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F6DA598-DFCE-C5D7-96A3-0A39712E91B7}"/>
                </a:ext>
              </a:extLst>
            </p:cNvPr>
            <p:cNvSpPr/>
            <p:nvPr/>
          </p:nvSpPr>
          <p:spPr>
            <a:xfrm rot="1652127">
              <a:off x="2141306" y="287067"/>
              <a:ext cx="291765" cy="291765"/>
            </a:xfrm>
            <a:custGeom>
              <a:avLst/>
              <a:gdLst/>
              <a:ahLst/>
              <a:cxnLst/>
              <a:rect l="l" t="t" r="r" b="b"/>
              <a:pathLst>
                <a:path w="291765" h="291765">
                  <a:moveTo>
                    <a:pt x="0" y="0"/>
                  </a:moveTo>
                  <a:lnTo>
                    <a:pt x="291765" y="0"/>
                  </a:lnTo>
                  <a:lnTo>
                    <a:pt x="291765" y="291766"/>
                  </a:lnTo>
                  <a:lnTo>
                    <a:pt x="0" y="29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729E7E9C-CC3B-FDEE-4D62-0EB75FBD62F6}"/>
                </a:ext>
              </a:extLst>
            </p:cNvPr>
            <p:cNvSpPr/>
            <p:nvPr/>
          </p:nvSpPr>
          <p:spPr>
            <a:xfrm>
              <a:off x="0" y="150966"/>
              <a:ext cx="399300" cy="417024"/>
            </a:xfrm>
            <a:custGeom>
              <a:avLst/>
              <a:gdLst/>
              <a:ahLst/>
              <a:cxnLst/>
              <a:rect l="l" t="t" r="r" b="b"/>
              <a:pathLst>
                <a:path w="399300" h="417024">
                  <a:moveTo>
                    <a:pt x="0" y="0"/>
                  </a:moveTo>
                  <a:lnTo>
                    <a:pt x="399300" y="0"/>
                  </a:lnTo>
                  <a:lnTo>
                    <a:pt x="399300" y="417024"/>
                  </a:lnTo>
                  <a:lnTo>
                    <a:pt x="0" y="417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FE75FAB-E820-D541-4C72-D7BF1745792C}"/>
              </a:ext>
            </a:extLst>
          </p:cNvPr>
          <p:cNvSpPr txBox="1"/>
          <p:nvPr/>
        </p:nvSpPr>
        <p:spPr>
          <a:xfrm>
            <a:off x="1044000" y="3337667"/>
            <a:ext cx="162000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BiasWatch Works:</a:t>
            </a:r>
          </a:p>
          <a:p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loan decision logs generated by deployed systems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Segments applicants into sensitive groups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 government-employed vs non-government-employed)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 group-wise approval rates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approval rate disparities across groups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Flags bias drift when disparities exceed policy-defined thresholds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independently of model architecture (model-agnostic)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explainable, audit-ready fairness metrics</a:t>
            </a:r>
          </a:p>
        </p:txBody>
      </p:sp>
    </p:spTree>
    <p:extLst>
      <p:ext uri="{BB962C8B-B14F-4D97-AF65-F5344CB8AC3E}">
        <p14:creationId xmlns:p14="http://schemas.microsoft.com/office/powerpoint/2010/main" val="3521213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58900" y="9415306"/>
            <a:ext cx="3200400" cy="561938"/>
            <a:chOff x="0" y="0"/>
            <a:chExt cx="4267200" cy="749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67200" cy="749250"/>
            </a:xfrm>
            <a:custGeom>
              <a:avLst/>
              <a:gdLst/>
              <a:ahLst/>
              <a:cxnLst/>
              <a:rect l="l" t="t" r="r" b="b"/>
              <a:pathLst>
                <a:path w="4267200" h="749250">
                  <a:moveTo>
                    <a:pt x="0" y="0"/>
                  </a:moveTo>
                  <a:lnTo>
                    <a:pt x="4267200" y="0"/>
                  </a:lnTo>
                  <a:lnTo>
                    <a:pt x="4267200" y="749250"/>
                  </a:lnTo>
                  <a:lnTo>
                    <a:pt x="0" y="7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267200" cy="768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525" y="-38100"/>
            <a:ext cx="18335982" cy="1879438"/>
            <a:chOff x="0" y="0"/>
            <a:chExt cx="24447976" cy="25059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48008" cy="2505964"/>
            </a:xfrm>
            <a:custGeom>
              <a:avLst/>
              <a:gdLst/>
              <a:ahLst/>
              <a:cxnLst/>
              <a:rect l="l" t="t" r="r" b="b"/>
              <a:pathLst>
                <a:path w="24448008" h="2505964">
                  <a:moveTo>
                    <a:pt x="0" y="0"/>
                  </a:moveTo>
                  <a:lnTo>
                    <a:pt x="24448008" y="0"/>
                  </a:lnTo>
                  <a:lnTo>
                    <a:pt x="24448008" y="2505964"/>
                  </a:lnTo>
                  <a:lnTo>
                    <a:pt x="0" y="2505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76962" y="-38100"/>
            <a:ext cx="18488728" cy="1966385"/>
            <a:chOff x="0" y="0"/>
            <a:chExt cx="24651637" cy="26218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651637" cy="2491235"/>
            </a:xfrm>
            <a:custGeom>
              <a:avLst/>
              <a:gdLst/>
              <a:ahLst/>
              <a:cxnLst/>
              <a:rect l="l" t="t" r="r" b="b"/>
              <a:pathLst>
                <a:path w="24651637" h="2491235">
                  <a:moveTo>
                    <a:pt x="0" y="0"/>
                  </a:moveTo>
                  <a:lnTo>
                    <a:pt x="24651637" y="0"/>
                  </a:lnTo>
                  <a:lnTo>
                    <a:pt x="24651637" y="2491235"/>
                  </a:lnTo>
                  <a:lnTo>
                    <a:pt x="0" y="2491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688757" y="0"/>
              <a:ext cx="3962880" cy="2621846"/>
            </a:xfrm>
            <a:custGeom>
              <a:avLst/>
              <a:gdLst/>
              <a:ahLst/>
              <a:cxnLst/>
              <a:rect l="l" t="t" r="r" b="b"/>
              <a:pathLst>
                <a:path w="3962880" h="2621846">
                  <a:moveTo>
                    <a:pt x="0" y="0"/>
                  </a:moveTo>
                  <a:lnTo>
                    <a:pt x="3962880" y="0"/>
                  </a:lnTo>
                  <a:lnTo>
                    <a:pt x="3962880" y="2621846"/>
                  </a:lnTo>
                  <a:lnTo>
                    <a:pt x="0" y="2621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>
            <a:off x="-9525" y="10149893"/>
            <a:ext cx="18336006" cy="146589"/>
          </a:xfrm>
          <a:custGeom>
            <a:avLst/>
            <a:gdLst/>
            <a:ahLst/>
            <a:cxnLst/>
            <a:rect l="l" t="t" r="r" b="b"/>
            <a:pathLst>
              <a:path w="18336006" h="146589">
                <a:moveTo>
                  <a:pt x="0" y="0"/>
                </a:moveTo>
                <a:lnTo>
                  <a:pt x="18336006" y="0"/>
                </a:lnTo>
                <a:lnTo>
                  <a:pt x="18336006" y="146589"/>
                </a:lnTo>
                <a:lnTo>
                  <a:pt x="0" y="1465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1/24/2026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772900" y="10117531"/>
            <a:ext cx="3200400" cy="561976"/>
            <a:chOff x="0" y="0"/>
            <a:chExt cx="4267200" cy="74930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267200" cy="749301"/>
            </a:xfrm>
            <a:custGeom>
              <a:avLst/>
              <a:gdLst/>
              <a:ahLst/>
              <a:cxnLst/>
              <a:rect l="l" t="t" r="r" b="b"/>
              <a:pathLst>
                <a:path w="4267200" h="749301">
                  <a:moveTo>
                    <a:pt x="0" y="0"/>
                  </a:moveTo>
                  <a:lnTo>
                    <a:pt x="4267200" y="0"/>
                  </a:lnTo>
                  <a:lnTo>
                    <a:pt x="4267200" y="749301"/>
                  </a:lnTo>
                  <a:lnTo>
                    <a:pt x="0" y="749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4267200" cy="768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802390" y="1575860"/>
            <a:ext cx="6683220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 Stack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753850" y="355898"/>
            <a:ext cx="2900669" cy="545721"/>
            <a:chOff x="0" y="0"/>
            <a:chExt cx="3867559" cy="727628"/>
          </a:xfrm>
        </p:grpSpPr>
        <p:grpSp>
          <p:nvGrpSpPr>
            <p:cNvPr id="19" name="Group 19"/>
            <p:cNvGrpSpPr/>
            <p:nvPr/>
          </p:nvGrpSpPr>
          <p:grpSpPr>
            <a:xfrm>
              <a:off x="2250130" y="395892"/>
              <a:ext cx="74116" cy="74116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8444" tIns="8444" rIns="8444" bIns="8444" rtlCol="0" anchor="ctr"/>
              <a:lstStyle/>
              <a:p>
                <a:pPr algn="ctr">
                  <a:lnSpc>
                    <a:spcPts val="652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99300" y="-66675"/>
              <a:ext cx="2492296" cy="794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24"/>
                </a:lnSpc>
              </a:pPr>
              <a:r>
                <a:rPr lang="en-US" sz="358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Echel  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91596" y="-66675"/>
              <a:ext cx="975963" cy="785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64"/>
                </a:lnSpc>
              </a:pPr>
              <a:r>
                <a:rPr lang="en-US" sz="354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2.0</a:t>
              </a:r>
            </a:p>
          </p:txBody>
        </p:sp>
        <p:sp>
          <p:nvSpPr>
            <p:cNvPr id="24" name="Freeform 24"/>
            <p:cNvSpPr/>
            <p:nvPr/>
          </p:nvSpPr>
          <p:spPr>
            <a:xfrm rot="1652127">
              <a:off x="2141306" y="287067"/>
              <a:ext cx="291765" cy="291765"/>
            </a:xfrm>
            <a:custGeom>
              <a:avLst/>
              <a:gdLst/>
              <a:ahLst/>
              <a:cxnLst/>
              <a:rect l="l" t="t" r="r" b="b"/>
              <a:pathLst>
                <a:path w="291765" h="291765">
                  <a:moveTo>
                    <a:pt x="0" y="0"/>
                  </a:moveTo>
                  <a:lnTo>
                    <a:pt x="291765" y="0"/>
                  </a:lnTo>
                  <a:lnTo>
                    <a:pt x="291765" y="291766"/>
                  </a:lnTo>
                  <a:lnTo>
                    <a:pt x="0" y="29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150966"/>
              <a:ext cx="399300" cy="417024"/>
            </a:xfrm>
            <a:custGeom>
              <a:avLst/>
              <a:gdLst/>
              <a:ahLst/>
              <a:cxnLst/>
              <a:rect l="l" t="t" r="r" b="b"/>
              <a:pathLst>
                <a:path w="399300" h="417024">
                  <a:moveTo>
                    <a:pt x="0" y="0"/>
                  </a:moveTo>
                  <a:lnTo>
                    <a:pt x="399300" y="0"/>
                  </a:lnTo>
                  <a:lnTo>
                    <a:pt x="399300" y="417024"/>
                  </a:lnTo>
                  <a:lnTo>
                    <a:pt x="0" y="417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23944879-74AC-CEFD-7F22-67FD301E7452}"/>
              </a:ext>
            </a:extLst>
          </p:cNvPr>
          <p:cNvSpPr txBox="1"/>
          <p:nvPr/>
        </p:nvSpPr>
        <p:spPr>
          <a:xfrm>
            <a:off x="1044000" y="3126707"/>
            <a:ext cx="16200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language used for data processing, bias detection logic, and system orchestration.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cleaning loan decision data, filtering sensitive groups, and computing approval rate metrics.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build an interactive dashboard for uploading datasets, visualizing approval rates, and displaying bias drift alerts in real time.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(Decision Logs)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as the input format to represent real-world loan approval records for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58900" y="9415306"/>
            <a:ext cx="3200400" cy="561938"/>
            <a:chOff x="0" y="0"/>
            <a:chExt cx="4267200" cy="749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67200" cy="749250"/>
            </a:xfrm>
            <a:custGeom>
              <a:avLst/>
              <a:gdLst/>
              <a:ahLst/>
              <a:cxnLst/>
              <a:rect l="l" t="t" r="r" b="b"/>
              <a:pathLst>
                <a:path w="4267200" h="749250">
                  <a:moveTo>
                    <a:pt x="0" y="0"/>
                  </a:moveTo>
                  <a:lnTo>
                    <a:pt x="4267200" y="0"/>
                  </a:lnTo>
                  <a:lnTo>
                    <a:pt x="4267200" y="749250"/>
                  </a:lnTo>
                  <a:lnTo>
                    <a:pt x="0" y="7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267200" cy="768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525" y="-38100"/>
            <a:ext cx="18335982" cy="1879438"/>
            <a:chOff x="0" y="0"/>
            <a:chExt cx="24447976" cy="25059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48008" cy="2505964"/>
            </a:xfrm>
            <a:custGeom>
              <a:avLst/>
              <a:gdLst/>
              <a:ahLst/>
              <a:cxnLst/>
              <a:rect l="l" t="t" r="r" b="b"/>
              <a:pathLst>
                <a:path w="24448008" h="2505964">
                  <a:moveTo>
                    <a:pt x="0" y="0"/>
                  </a:moveTo>
                  <a:lnTo>
                    <a:pt x="24448008" y="0"/>
                  </a:lnTo>
                  <a:lnTo>
                    <a:pt x="24448008" y="2505964"/>
                  </a:lnTo>
                  <a:lnTo>
                    <a:pt x="0" y="2505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76962" y="-38100"/>
            <a:ext cx="18488728" cy="1966385"/>
            <a:chOff x="0" y="0"/>
            <a:chExt cx="24651637" cy="26218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651637" cy="2491235"/>
            </a:xfrm>
            <a:custGeom>
              <a:avLst/>
              <a:gdLst/>
              <a:ahLst/>
              <a:cxnLst/>
              <a:rect l="l" t="t" r="r" b="b"/>
              <a:pathLst>
                <a:path w="24651637" h="2491235">
                  <a:moveTo>
                    <a:pt x="0" y="0"/>
                  </a:moveTo>
                  <a:lnTo>
                    <a:pt x="24651637" y="0"/>
                  </a:lnTo>
                  <a:lnTo>
                    <a:pt x="24651637" y="2491235"/>
                  </a:lnTo>
                  <a:lnTo>
                    <a:pt x="0" y="2491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688757" y="0"/>
              <a:ext cx="3962880" cy="2621846"/>
            </a:xfrm>
            <a:custGeom>
              <a:avLst/>
              <a:gdLst/>
              <a:ahLst/>
              <a:cxnLst/>
              <a:rect l="l" t="t" r="r" b="b"/>
              <a:pathLst>
                <a:path w="3962880" h="2621846">
                  <a:moveTo>
                    <a:pt x="0" y="0"/>
                  </a:moveTo>
                  <a:lnTo>
                    <a:pt x="3962880" y="0"/>
                  </a:lnTo>
                  <a:lnTo>
                    <a:pt x="3962880" y="2621846"/>
                  </a:lnTo>
                  <a:lnTo>
                    <a:pt x="0" y="2621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>
            <a:off x="-9525" y="10149893"/>
            <a:ext cx="18336006" cy="146589"/>
          </a:xfrm>
          <a:custGeom>
            <a:avLst/>
            <a:gdLst/>
            <a:ahLst/>
            <a:cxnLst/>
            <a:rect l="l" t="t" r="r" b="b"/>
            <a:pathLst>
              <a:path w="18336006" h="146589">
                <a:moveTo>
                  <a:pt x="0" y="0"/>
                </a:moveTo>
                <a:lnTo>
                  <a:pt x="18336006" y="0"/>
                </a:lnTo>
                <a:lnTo>
                  <a:pt x="18336006" y="146589"/>
                </a:lnTo>
                <a:lnTo>
                  <a:pt x="0" y="1465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1/24/2026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772900" y="10117531"/>
            <a:ext cx="3200400" cy="561976"/>
            <a:chOff x="0" y="0"/>
            <a:chExt cx="4267200" cy="74930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267200" cy="749301"/>
            </a:xfrm>
            <a:custGeom>
              <a:avLst/>
              <a:gdLst/>
              <a:ahLst/>
              <a:cxnLst/>
              <a:rect l="l" t="t" r="r" b="b"/>
              <a:pathLst>
                <a:path w="4267200" h="749301">
                  <a:moveTo>
                    <a:pt x="0" y="0"/>
                  </a:moveTo>
                  <a:lnTo>
                    <a:pt x="4267200" y="0"/>
                  </a:lnTo>
                  <a:lnTo>
                    <a:pt x="4267200" y="749301"/>
                  </a:lnTo>
                  <a:lnTo>
                    <a:pt x="0" y="749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4267200" cy="768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529845" y="1575860"/>
            <a:ext cx="11228310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Architecture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753850" y="355898"/>
            <a:ext cx="2900669" cy="545721"/>
            <a:chOff x="0" y="0"/>
            <a:chExt cx="3867559" cy="727628"/>
          </a:xfrm>
        </p:grpSpPr>
        <p:grpSp>
          <p:nvGrpSpPr>
            <p:cNvPr id="19" name="Group 19"/>
            <p:cNvGrpSpPr/>
            <p:nvPr/>
          </p:nvGrpSpPr>
          <p:grpSpPr>
            <a:xfrm>
              <a:off x="2250130" y="395892"/>
              <a:ext cx="74116" cy="74116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8444" tIns="8444" rIns="8444" bIns="8444" rtlCol="0" anchor="ctr"/>
              <a:lstStyle/>
              <a:p>
                <a:pPr algn="ctr">
                  <a:lnSpc>
                    <a:spcPts val="652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99300" y="-66675"/>
              <a:ext cx="2492296" cy="794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24"/>
                </a:lnSpc>
              </a:pPr>
              <a:r>
                <a:rPr lang="en-US" sz="358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Echel  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91596" y="-66675"/>
              <a:ext cx="975963" cy="785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64"/>
                </a:lnSpc>
              </a:pPr>
              <a:r>
                <a:rPr lang="en-US" sz="354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2.0</a:t>
              </a:r>
            </a:p>
          </p:txBody>
        </p:sp>
        <p:sp>
          <p:nvSpPr>
            <p:cNvPr id="24" name="Freeform 24"/>
            <p:cNvSpPr/>
            <p:nvPr/>
          </p:nvSpPr>
          <p:spPr>
            <a:xfrm rot="1652127">
              <a:off x="2141306" y="287067"/>
              <a:ext cx="291765" cy="291765"/>
            </a:xfrm>
            <a:custGeom>
              <a:avLst/>
              <a:gdLst/>
              <a:ahLst/>
              <a:cxnLst/>
              <a:rect l="l" t="t" r="r" b="b"/>
              <a:pathLst>
                <a:path w="291765" h="291765">
                  <a:moveTo>
                    <a:pt x="0" y="0"/>
                  </a:moveTo>
                  <a:lnTo>
                    <a:pt x="291765" y="0"/>
                  </a:lnTo>
                  <a:lnTo>
                    <a:pt x="291765" y="291766"/>
                  </a:lnTo>
                  <a:lnTo>
                    <a:pt x="0" y="29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150966"/>
              <a:ext cx="399300" cy="417024"/>
            </a:xfrm>
            <a:custGeom>
              <a:avLst/>
              <a:gdLst/>
              <a:ahLst/>
              <a:cxnLst/>
              <a:rect l="l" t="t" r="r" b="b"/>
              <a:pathLst>
                <a:path w="399300" h="417024">
                  <a:moveTo>
                    <a:pt x="0" y="0"/>
                  </a:moveTo>
                  <a:lnTo>
                    <a:pt x="399300" y="0"/>
                  </a:lnTo>
                  <a:lnTo>
                    <a:pt x="399300" y="417024"/>
                  </a:lnTo>
                  <a:lnTo>
                    <a:pt x="0" y="417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6" name="Rectangle 1">
            <a:extLst>
              <a:ext uri="{FF2B5EF4-FFF2-40B4-BE49-F238E27FC236}">
                <a16:creationId xmlns:a16="http://schemas.microsoft.com/office/drawing/2014/main" id="{587E8B3F-B6A4-A161-EE24-2792717D5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768887"/>
            <a:ext cx="87858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Layer</a:t>
            </a:r>
            <a:endParaRPr kumimoji="0" lang="en-US" altLang="en-US" sz="32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Loan decision logs provided as CSV files</a:t>
            </a: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  <a:tabLst/>
            </a:pPr>
            <a:r>
              <a:rPr kumimoji="0" lang="en-US" altLang="en-US" sz="3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Layer</a:t>
            </a:r>
            <a:endParaRPr kumimoji="0" lang="en-US" altLang="en-US" sz="32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normalization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Sensitive group segmentation (govt vs non-govt)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  <a:tabLst/>
            </a:pPr>
            <a:r>
              <a:rPr kumimoji="0" lang="en-US" altLang="en-US" sz="3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 Layer</a:t>
            </a:r>
            <a:endParaRPr kumimoji="0" lang="en-US" altLang="en-US" sz="32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Group-wise approval rate computation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Approval rate disparity measurement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64D6E5-3E20-71C7-424E-5C13823F56D0}"/>
              </a:ext>
            </a:extLst>
          </p:cNvPr>
          <p:cNvSpPr txBox="1"/>
          <p:nvPr/>
        </p:nvSpPr>
        <p:spPr>
          <a:xfrm>
            <a:off x="10591800" y="4707605"/>
            <a:ext cx="693420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r>
              <a:rPr kumimoji="0" lang="en-US" altLang="en-US" sz="3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Bias Detection Layer</a:t>
            </a:r>
            <a:endParaRPr kumimoji="0" lang="en-US" altLang="en-US" sz="32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Threshold-based bias drift detection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Policy-driven fairness rules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</a:pPr>
            <a:r>
              <a:rPr kumimoji="0" lang="en-US" altLang="en-US" sz="3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</a:t>
            </a:r>
            <a:endParaRPr kumimoji="0" lang="en-US" altLang="en-US" sz="32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Streamlit dashboard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metrics and bias alerts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58900" y="9415306"/>
            <a:ext cx="3200400" cy="561938"/>
            <a:chOff x="0" y="0"/>
            <a:chExt cx="4267200" cy="749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67200" cy="749250"/>
            </a:xfrm>
            <a:custGeom>
              <a:avLst/>
              <a:gdLst/>
              <a:ahLst/>
              <a:cxnLst/>
              <a:rect l="l" t="t" r="r" b="b"/>
              <a:pathLst>
                <a:path w="4267200" h="749250">
                  <a:moveTo>
                    <a:pt x="0" y="0"/>
                  </a:moveTo>
                  <a:lnTo>
                    <a:pt x="4267200" y="0"/>
                  </a:lnTo>
                  <a:lnTo>
                    <a:pt x="4267200" y="749250"/>
                  </a:lnTo>
                  <a:lnTo>
                    <a:pt x="0" y="7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267200" cy="768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525" y="-38100"/>
            <a:ext cx="18335982" cy="1879438"/>
            <a:chOff x="0" y="0"/>
            <a:chExt cx="24447976" cy="25059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48008" cy="2505964"/>
            </a:xfrm>
            <a:custGeom>
              <a:avLst/>
              <a:gdLst/>
              <a:ahLst/>
              <a:cxnLst/>
              <a:rect l="l" t="t" r="r" b="b"/>
              <a:pathLst>
                <a:path w="24448008" h="2505964">
                  <a:moveTo>
                    <a:pt x="0" y="0"/>
                  </a:moveTo>
                  <a:lnTo>
                    <a:pt x="24448008" y="0"/>
                  </a:lnTo>
                  <a:lnTo>
                    <a:pt x="24448008" y="2505964"/>
                  </a:lnTo>
                  <a:lnTo>
                    <a:pt x="0" y="2505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76962" y="-38100"/>
            <a:ext cx="18488728" cy="1966385"/>
            <a:chOff x="0" y="0"/>
            <a:chExt cx="24651637" cy="26218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651637" cy="2491235"/>
            </a:xfrm>
            <a:custGeom>
              <a:avLst/>
              <a:gdLst/>
              <a:ahLst/>
              <a:cxnLst/>
              <a:rect l="l" t="t" r="r" b="b"/>
              <a:pathLst>
                <a:path w="24651637" h="2491235">
                  <a:moveTo>
                    <a:pt x="0" y="0"/>
                  </a:moveTo>
                  <a:lnTo>
                    <a:pt x="24651637" y="0"/>
                  </a:lnTo>
                  <a:lnTo>
                    <a:pt x="24651637" y="2491235"/>
                  </a:lnTo>
                  <a:lnTo>
                    <a:pt x="0" y="2491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688757" y="0"/>
              <a:ext cx="3962880" cy="2621846"/>
            </a:xfrm>
            <a:custGeom>
              <a:avLst/>
              <a:gdLst/>
              <a:ahLst/>
              <a:cxnLst/>
              <a:rect l="l" t="t" r="r" b="b"/>
              <a:pathLst>
                <a:path w="3962880" h="2621846">
                  <a:moveTo>
                    <a:pt x="0" y="0"/>
                  </a:moveTo>
                  <a:lnTo>
                    <a:pt x="3962880" y="0"/>
                  </a:lnTo>
                  <a:lnTo>
                    <a:pt x="3962880" y="2621846"/>
                  </a:lnTo>
                  <a:lnTo>
                    <a:pt x="0" y="2621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>
            <a:off x="-9525" y="10149893"/>
            <a:ext cx="18336006" cy="146589"/>
          </a:xfrm>
          <a:custGeom>
            <a:avLst/>
            <a:gdLst/>
            <a:ahLst/>
            <a:cxnLst/>
            <a:rect l="l" t="t" r="r" b="b"/>
            <a:pathLst>
              <a:path w="18336006" h="146589">
                <a:moveTo>
                  <a:pt x="0" y="0"/>
                </a:moveTo>
                <a:lnTo>
                  <a:pt x="18336006" y="0"/>
                </a:lnTo>
                <a:lnTo>
                  <a:pt x="18336006" y="146589"/>
                </a:lnTo>
                <a:lnTo>
                  <a:pt x="0" y="1465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1/24/2026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772900" y="10117531"/>
            <a:ext cx="3200400" cy="561976"/>
            <a:chOff x="0" y="0"/>
            <a:chExt cx="4267200" cy="74930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267200" cy="749301"/>
            </a:xfrm>
            <a:custGeom>
              <a:avLst/>
              <a:gdLst/>
              <a:ahLst/>
              <a:cxnLst/>
              <a:rect l="l" t="t" r="r" b="b"/>
              <a:pathLst>
                <a:path w="4267200" h="749301">
                  <a:moveTo>
                    <a:pt x="0" y="0"/>
                  </a:moveTo>
                  <a:lnTo>
                    <a:pt x="4267200" y="0"/>
                  </a:lnTo>
                  <a:lnTo>
                    <a:pt x="4267200" y="749301"/>
                  </a:lnTo>
                  <a:lnTo>
                    <a:pt x="0" y="749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4267200" cy="768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917274" y="1575860"/>
            <a:ext cx="10453453" cy="1552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Features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753850" y="355898"/>
            <a:ext cx="2900669" cy="545721"/>
            <a:chOff x="0" y="0"/>
            <a:chExt cx="3867559" cy="727628"/>
          </a:xfrm>
        </p:grpSpPr>
        <p:grpSp>
          <p:nvGrpSpPr>
            <p:cNvPr id="19" name="Group 19"/>
            <p:cNvGrpSpPr/>
            <p:nvPr/>
          </p:nvGrpSpPr>
          <p:grpSpPr>
            <a:xfrm>
              <a:off x="2250130" y="395892"/>
              <a:ext cx="74116" cy="74116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8444" tIns="8444" rIns="8444" bIns="8444" rtlCol="0" anchor="ctr"/>
              <a:lstStyle/>
              <a:p>
                <a:pPr algn="ctr">
                  <a:lnSpc>
                    <a:spcPts val="652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99300" y="-66675"/>
              <a:ext cx="2492296" cy="794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24"/>
                </a:lnSpc>
              </a:pPr>
              <a:r>
                <a:rPr lang="en-US" sz="358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Echel  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91596" y="-66675"/>
              <a:ext cx="975963" cy="785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64"/>
                </a:lnSpc>
              </a:pPr>
              <a:r>
                <a:rPr lang="en-US" sz="354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2.0</a:t>
              </a:r>
            </a:p>
          </p:txBody>
        </p:sp>
        <p:sp>
          <p:nvSpPr>
            <p:cNvPr id="24" name="Freeform 24"/>
            <p:cNvSpPr/>
            <p:nvPr/>
          </p:nvSpPr>
          <p:spPr>
            <a:xfrm rot="1652127">
              <a:off x="2141306" y="287067"/>
              <a:ext cx="291765" cy="291765"/>
            </a:xfrm>
            <a:custGeom>
              <a:avLst/>
              <a:gdLst/>
              <a:ahLst/>
              <a:cxnLst/>
              <a:rect l="l" t="t" r="r" b="b"/>
              <a:pathLst>
                <a:path w="291765" h="291765">
                  <a:moveTo>
                    <a:pt x="0" y="0"/>
                  </a:moveTo>
                  <a:lnTo>
                    <a:pt x="291765" y="0"/>
                  </a:lnTo>
                  <a:lnTo>
                    <a:pt x="291765" y="291766"/>
                  </a:lnTo>
                  <a:lnTo>
                    <a:pt x="0" y="29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150966"/>
              <a:ext cx="399300" cy="417024"/>
            </a:xfrm>
            <a:custGeom>
              <a:avLst/>
              <a:gdLst/>
              <a:ahLst/>
              <a:cxnLst/>
              <a:rect l="l" t="t" r="r" b="b"/>
              <a:pathLst>
                <a:path w="399300" h="417024">
                  <a:moveTo>
                    <a:pt x="0" y="0"/>
                  </a:moveTo>
                  <a:lnTo>
                    <a:pt x="399300" y="0"/>
                  </a:lnTo>
                  <a:lnTo>
                    <a:pt x="399300" y="417024"/>
                  </a:lnTo>
                  <a:lnTo>
                    <a:pt x="0" y="417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6" name="Rectangle 1">
            <a:extLst>
              <a:ext uri="{FF2B5EF4-FFF2-40B4-BE49-F238E27FC236}">
                <a16:creationId xmlns:a16="http://schemas.microsoft.com/office/drawing/2014/main" id="{E2D91087-7DAB-C532-84FE-BB9D42BEE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000" y="3466271"/>
            <a:ext cx="16200000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Post-Deployment Bias Monitoring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Monitors fairness in loan approval decisions after the system is deployed, without retraining 	or modifying the original model.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Group-wise Approval Rate Analysis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Separately computes approval rates for sensitive groups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(government-employed vs non-government-employed)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Bias Drift Detection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Detects fairness degradation when approval rate differences exceed a configurable 	threshold.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Explainable &amp; Transparent Logic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Uses simple, auditable metrics instead of black-box machine learning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12396-AA6F-1934-A565-05B227F59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08ED066-6A1D-FCF0-A0E9-06023411BFF1}"/>
              </a:ext>
            </a:extLst>
          </p:cNvPr>
          <p:cNvGrpSpPr/>
          <p:nvPr/>
        </p:nvGrpSpPr>
        <p:grpSpPr>
          <a:xfrm>
            <a:off x="14058900" y="9415306"/>
            <a:ext cx="3200400" cy="561938"/>
            <a:chOff x="0" y="0"/>
            <a:chExt cx="4267200" cy="7492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5C0D10C-03B1-58A1-8E90-CCE52552CF1A}"/>
                </a:ext>
              </a:extLst>
            </p:cNvPr>
            <p:cNvSpPr/>
            <p:nvPr/>
          </p:nvSpPr>
          <p:spPr>
            <a:xfrm>
              <a:off x="0" y="0"/>
              <a:ext cx="4267200" cy="749250"/>
            </a:xfrm>
            <a:custGeom>
              <a:avLst/>
              <a:gdLst/>
              <a:ahLst/>
              <a:cxnLst/>
              <a:rect l="l" t="t" r="r" b="b"/>
              <a:pathLst>
                <a:path w="4267200" h="749250">
                  <a:moveTo>
                    <a:pt x="0" y="0"/>
                  </a:moveTo>
                  <a:lnTo>
                    <a:pt x="4267200" y="0"/>
                  </a:lnTo>
                  <a:lnTo>
                    <a:pt x="4267200" y="749250"/>
                  </a:lnTo>
                  <a:lnTo>
                    <a:pt x="0" y="7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9B7CCB9-D808-BBBC-545E-FB6B847E8D97}"/>
                </a:ext>
              </a:extLst>
            </p:cNvPr>
            <p:cNvSpPr txBox="1"/>
            <p:nvPr/>
          </p:nvSpPr>
          <p:spPr>
            <a:xfrm>
              <a:off x="0" y="-19050"/>
              <a:ext cx="4267200" cy="768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4BAB098-CBA6-03E2-548A-28DB715FC1B1}"/>
              </a:ext>
            </a:extLst>
          </p:cNvPr>
          <p:cNvGrpSpPr/>
          <p:nvPr/>
        </p:nvGrpSpPr>
        <p:grpSpPr>
          <a:xfrm>
            <a:off x="-9525" y="-38100"/>
            <a:ext cx="18335982" cy="1879438"/>
            <a:chOff x="0" y="0"/>
            <a:chExt cx="24447976" cy="250591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A42F0A7-20CA-3C50-DF8F-CFF7D54CF7CD}"/>
                </a:ext>
              </a:extLst>
            </p:cNvPr>
            <p:cNvSpPr/>
            <p:nvPr/>
          </p:nvSpPr>
          <p:spPr>
            <a:xfrm>
              <a:off x="0" y="0"/>
              <a:ext cx="24448008" cy="2505964"/>
            </a:xfrm>
            <a:custGeom>
              <a:avLst/>
              <a:gdLst/>
              <a:ahLst/>
              <a:cxnLst/>
              <a:rect l="l" t="t" r="r" b="b"/>
              <a:pathLst>
                <a:path w="24448008" h="2505964">
                  <a:moveTo>
                    <a:pt x="0" y="0"/>
                  </a:moveTo>
                  <a:lnTo>
                    <a:pt x="24448008" y="0"/>
                  </a:lnTo>
                  <a:lnTo>
                    <a:pt x="24448008" y="2505964"/>
                  </a:lnTo>
                  <a:lnTo>
                    <a:pt x="0" y="2505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ED71AEA4-215C-8657-076E-5BCC5D414BAC}"/>
              </a:ext>
            </a:extLst>
          </p:cNvPr>
          <p:cNvGrpSpPr/>
          <p:nvPr/>
        </p:nvGrpSpPr>
        <p:grpSpPr>
          <a:xfrm>
            <a:off x="-76962" y="-38100"/>
            <a:ext cx="18488728" cy="1966385"/>
            <a:chOff x="0" y="0"/>
            <a:chExt cx="24651637" cy="2621846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1EC5D86-B163-8E2D-6E8D-5373246942FF}"/>
                </a:ext>
              </a:extLst>
            </p:cNvPr>
            <p:cNvSpPr/>
            <p:nvPr/>
          </p:nvSpPr>
          <p:spPr>
            <a:xfrm>
              <a:off x="0" y="0"/>
              <a:ext cx="24651637" cy="2491235"/>
            </a:xfrm>
            <a:custGeom>
              <a:avLst/>
              <a:gdLst/>
              <a:ahLst/>
              <a:cxnLst/>
              <a:rect l="l" t="t" r="r" b="b"/>
              <a:pathLst>
                <a:path w="24651637" h="2491235">
                  <a:moveTo>
                    <a:pt x="0" y="0"/>
                  </a:moveTo>
                  <a:lnTo>
                    <a:pt x="24651637" y="0"/>
                  </a:lnTo>
                  <a:lnTo>
                    <a:pt x="24651637" y="2491235"/>
                  </a:lnTo>
                  <a:lnTo>
                    <a:pt x="0" y="2491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4B24069-08DC-CAA4-C7FB-F461F629F7D6}"/>
                </a:ext>
              </a:extLst>
            </p:cNvPr>
            <p:cNvSpPr/>
            <p:nvPr/>
          </p:nvSpPr>
          <p:spPr>
            <a:xfrm>
              <a:off x="20688757" y="0"/>
              <a:ext cx="3962880" cy="2621846"/>
            </a:xfrm>
            <a:custGeom>
              <a:avLst/>
              <a:gdLst/>
              <a:ahLst/>
              <a:cxnLst/>
              <a:rect l="l" t="t" r="r" b="b"/>
              <a:pathLst>
                <a:path w="3962880" h="2621846">
                  <a:moveTo>
                    <a:pt x="0" y="0"/>
                  </a:moveTo>
                  <a:lnTo>
                    <a:pt x="3962880" y="0"/>
                  </a:lnTo>
                  <a:lnTo>
                    <a:pt x="3962880" y="2621846"/>
                  </a:lnTo>
                  <a:lnTo>
                    <a:pt x="0" y="2621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25BF7F19-641C-8371-3341-A42118E802CB}"/>
              </a:ext>
            </a:extLst>
          </p:cNvPr>
          <p:cNvSpPr/>
          <p:nvPr/>
        </p:nvSpPr>
        <p:spPr>
          <a:xfrm>
            <a:off x="-9525" y="10149893"/>
            <a:ext cx="18336006" cy="146589"/>
          </a:xfrm>
          <a:custGeom>
            <a:avLst/>
            <a:gdLst/>
            <a:ahLst/>
            <a:cxnLst/>
            <a:rect l="l" t="t" r="r" b="b"/>
            <a:pathLst>
              <a:path w="18336006" h="146589">
                <a:moveTo>
                  <a:pt x="0" y="0"/>
                </a:moveTo>
                <a:lnTo>
                  <a:pt x="18336006" y="0"/>
                </a:lnTo>
                <a:lnTo>
                  <a:pt x="18336006" y="146589"/>
                </a:lnTo>
                <a:lnTo>
                  <a:pt x="0" y="1465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46EC80A-1C86-26BC-3388-DE33DB36363A}"/>
              </a:ext>
            </a:extLst>
          </p:cNvPr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B47318BA-03C9-CE91-D6E5-F0B6B39CE055}"/>
                </a:ext>
              </a:extLst>
            </p:cNvPr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38B90D2B-89B4-DBB0-9DF7-1D8A5C775AC5}"/>
                </a:ext>
              </a:extLst>
            </p:cNvPr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1/24/2026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C1E82C9E-4992-7837-1746-CB7767FE0A9B}"/>
              </a:ext>
            </a:extLst>
          </p:cNvPr>
          <p:cNvGrpSpPr/>
          <p:nvPr/>
        </p:nvGrpSpPr>
        <p:grpSpPr>
          <a:xfrm>
            <a:off x="11772900" y="10117531"/>
            <a:ext cx="3200400" cy="561976"/>
            <a:chOff x="0" y="0"/>
            <a:chExt cx="4267200" cy="749301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24601283-36F8-690C-66AA-D53CEB016D6C}"/>
                </a:ext>
              </a:extLst>
            </p:cNvPr>
            <p:cNvSpPr/>
            <p:nvPr/>
          </p:nvSpPr>
          <p:spPr>
            <a:xfrm>
              <a:off x="0" y="0"/>
              <a:ext cx="4267200" cy="749301"/>
            </a:xfrm>
            <a:custGeom>
              <a:avLst/>
              <a:gdLst/>
              <a:ahLst/>
              <a:cxnLst/>
              <a:rect l="l" t="t" r="r" b="b"/>
              <a:pathLst>
                <a:path w="4267200" h="749301">
                  <a:moveTo>
                    <a:pt x="0" y="0"/>
                  </a:moveTo>
                  <a:lnTo>
                    <a:pt x="4267200" y="0"/>
                  </a:lnTo>
                  <a:lnTo>
                    <a:pt x="4267200" y="749301"/>
                  </a:lnTo>
                  <a:lnTo>
                    <a:pt x="0" y="749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2D412C92-F6C5-52E1-62FB-804CCB0AD5D9}"/>
                </a:ext>
              </a:extLst>
            </p:cNvPr>
            <p:cNvSpPr txBox="1"/>
            <p:nvPr/>
          </p:nvSpPr>
          <p:spPr>
            <a:xfrm>
              <a:off x="0" y="-19050"/>
              <a:ext cx="4267200" cy="768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868DC9AA-06D8-0066-4E70-2A03D42F1AEA}"/>
              </a:ext>
            </a:extLst>
          </p:cNvPr>
          <p:cNvSpPr txBox="1"/>
          <p:nvPr/>
        </p:nvSpPr>
        <p:spPr>
          <a:xfrm>
            <a:off x="3917274" y="1575860"/>
            <a:ext cx="10453453" cy="1552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Demo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27B13639-F634-C497-6DF8-B132F1CFA455}"/>
              </a:ext>
            </a:extLst>
          </p:cNvPr>
          <p:cNvGrpSpPr/>
          <p:nvPr/>
        </p:nvGrpSpPr>
        <p:grpSpPr>
          <a:xfrm>
            <a:off x="11753850" y="355898"/>
            <a:ext cx="2900669" cy="545721"/>
            <a:chOff x="0" y="0"/>
            <a:chExt cx="3867559" cy="727628"/>
          </a:xfrm>
        </p:grpSpPr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1B7E8108-64B9-DFBA-0EEC-E2C081F45622}"/>
                </a:ext>
              </a:extLst>
            </p:cNvPr>
            <p:cNvGrpSpPr/>
            <p:nvPr/>
          </p:nvGrpSpPr>
          <p:grpSpPr>
            <a:xfrm>
              <a:off x="2250130" y="395892"/>
              <a:ext cx="74116" cy="74116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EC97CA1F-C9CB-4E76-C0FD-A27E5FC757A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77334095-ECA6-CFA1-692C-B9926F152FAC}"/>
                  </a:ext>
                </a:extLst>
              </p:cNvPr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8444" tIns="8444" rIns="8444" bIns="8444" rtlCol="0" anchor="ctr"/>
              <a:lstStyle/>
              <a:p>
                <a:pPr algn="ctr">
                  <a:lnSpc>
                    <a:spcPts val="652"/>
                  </a:lnSpc>
                </a:pPr>
                <a:endParaRPr/>
              </a:p>
            </p:txBody>
          </p:sp>
        </p:grp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55EA050-383F-3C31-3824-40951AEF3A4F}"/>
                </a:ext>
              </a:extLst>
            </p:cNvPr>
            <p:cNvSpPr txBox="1"/>
            <p:nvPr/>
          </p:nvSpPr>
          <p:spPr>
            <a:xfrm>
              <a:off x="399300" y="-66675"/>
              <a:ext cx="2492296" cy="794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24"/>
                </a:lnSpc>
              </a:pPr>
              <a:r>
                <a:rPr lang="en-US" sz="358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Echel  n</a:t>
              </a: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C5498BA5-A07E-1E2C-E36B-E418F69D3E45}"/>
                </a:ext>
              </a:extLst>
            </p:cNvPr>
            <p:cNvSpPr txBox="1"/>
            <p:nvPr/>
          </p:nvSpPr>
          <p:spPr>
            <a:xfrm>
              <a:off x="2891596" y="-66675"/>
              <a:ext cx="975963" cy="785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64"/>
                </a:lnSpc>
              </a:pPr>
              <a:r>
                <a:rPr lang="en-US" sz="354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2.0</a:t>
              </a:r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A52A66E4-5D36-FA76-F8DD-5357C040FB4A}"/>
                </a:ext>
              </a:extLst>
            </p:cNvPr>
            <p:cNvSpPr/>
            <p:nvPr/>
          </p:nvSpPr>
          <p:spPr>
            <a:xfrm rot="1652127">
              <a:off x="2141306" y="287067"/>
              <a:ext cx="291765" cy="291765"/>
            </a:xfrm>
            <a:custGeom>
              <a:avLst/>
              <a:gdLst/>
              <a:ahLst/>
              <a:cxnLst/>
              <a:rect l="l" t="t" r="r" b="b"/>
              <a:pathLst>
                <a:path w="291765" h="291765">
                  <a:moveTo>
                    <a:pt x="0" y="0"/>
                  </a:moveTo>
                  <a:lnTo>
                    <a:pt x="291765" y="0"/>
                  </a:lnTo>
                  <a:lnTo>
                    <a:pt x="291765" y="291766"/>
                  </a:lnTo>
                  <a:lnTo>
                    <a:pt x="0" y="29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C251CA00-DADB-A68E-ED14-FFA29163A8BB}"/>
                </a:ext>
              </a:extLst>
            </p:cNvPr>
            <p:cNvSpPr/>
            <p:nvPr/>
          </p:nvSpPr>
          <p:spPr>
            <a:xfrm>
              <a:off x="0" y="150966"/>
              <a:ext cx="399300" cy="417024"/>
            </a:xfrm>
            <a:custGeom>
              <a:avLst/>
              <a:gdLst/>
              <a:ahLst/>
              <a:cxnLst/>
              <a:rect l="l" t="t" r="r" b="b"/>
              <a:pathLst>
                <a:path w="399300" h="417024">
                  <a:moveTo>
                    <a:pt x="0" y="0"/>
                  </a:moveTo>
                  <a:lnTo>
                    <a:pt x="399300" y="0"/>
                  </a:lnTo>
                  <a:lnTo>
                    <a:pt x="399300" y="417024"/>
                  </a:lnTo>
                  <a:lnTo>
                    <a:pt x="0" y="417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8" name="Rectangle 2">
            <a:extLst>
              <a:ext uri="{FF2B5EF4-FFF2-40B4-BE49-F238E27FC236}">
                <a16:creationId xmlns:a16="http://schemas.microsoft.com/office/drawing/2014/main" id="{F4D6D369-54C4-0D21-4BCD-F90691168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000" y="3109608"/>
            <a:ext cx="16200000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Upload historical loan decision data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Approval rates are balanced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No bias drift detected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Upload post-deployment decision data</a:t>
            </a:r>
            <a:b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Approval rates diverge across groups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Bias drift alert is triggered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instantly displays: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Group-wise approval rates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Approval rate difference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bias alert message</a:t>
            </a:r>
          </a:p>
        </p:txBody>
      </p:sp>
    </p:spTree>
    <p:extLst>
      <p:ext uri="{BB962C8B-B14F-4D97-AF65-F5344CB8AC3E}">
        <p14:creationId xmlns:p14="http://schemas.microsoft.com/office/powerpoint/2010/main" val="3675038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58900" y="9415306"/>
            <a:ext cx="3200400" cy="561938"/>
            <a:chOff x="0" y="0"/>
            <a:chExt cx="4267200" cy="749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67200" cy="749250"/>
            </a:xfrm>
            <a:custGeom>
              <a:avLst/>
              <a:gdLst/>
              <a:ahLst/>
              <a:cxnLst/>
              <a:rect l="l" t="t" r="r" b="b"/>
              <a:pathLst>
                <a:path w="4267200" h="749250">
                  <a:moveTo>
                    <a:pt x="0" y="0"/>
                  </a:moveTo>
                  <a:lnTo>
                    <a:pt x="4267200" y="0"/>
                  </a:lnTo>
                  <a:lnTo>
                    <a:pt x="4267200" y="749250"/>
                  </a:lnTo>
                  <a:lnTo>
                    <a:pt x="0" y="7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267200" cy="768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525" y="-38100"/>
            <a:ext cx="18335982" cy="1879438"/>
            <a:chOff x="0" y="0"/>
            <a:chExt cx="24447976" cy="25059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48008" cy="2505964"/>
            </a:xfrm>
            <a:custGeom>
              <a:avLst/>
              <a:gdLst/>
              <a:ahLst/>
              <a:cxnLst/>
              <a:rect l="l" t="t" r="r" b="b"/>
              <a:pathLst>
                <a:path w="24448008" h="2505964">
                  <a:moveTo>
                    <a:pt x="0" y="0"/>
                  </a:moveTo>
                  <a:lnTo>
                    <a:pt x="24448008" y="0"/>
                  </a:lnTo>
                  <a:lnTo>
                    <a:pt x="24448008" y="2505964"/>
                  </a:lnTo>
                  <a:lnTo>
                    <a:pt x="0" y="2505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76962" y="-38100"/>
            <a:ext cx="18488728" cy="1966385"/>
            <a:chOff x="0" y="0"/>
            <a:chExt cx="24651637" cy="26218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651637" cy="2491235"/>
            </a:xfrm>
            <a:custGeom>
              <a:avLst/>
              <a:gdLst/>
              <a:ahLst/>
              <a:cxnLst/>
              <a:rect l="l" t="t" r="r" b="b"/>
              <a:pathLst>
                <a:path w="24651637" h="2491235">
                  <a:moveTo>
                    <a:pt x="0" y="0"/>
                  </a:moveTo>
                  <a:lnTo>
                    <a:pt x="24651637" y="0"/>
                  </a:lnTo>
                  <a:lnTo>
                    <a:pt x="24651637" y="2491235"/>
                  </a:lnTo>
                  <a:lnTo>
                    <a:pt x="0" y="2491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688757" y="0"/>
              <a:ext cx="3962880" cy="2621846"/>
            </a:xfrm>
            <a:custGeom>
              <a:avLst/>
              <a:gdLst/>
              <a:ahLst/>
              <a:cxnLst/>
              <a:rect l="l" t="t" r="r" b="b"/>
              <a:pathLst>
                <a:path w="3962880" h="2621846">
                  <a:moveTo>
                    <a:pt x="0" y="0"/>
                  </a:moveTo>
                  <a:lnTo>
                    <a:pt x="3962880" y="0"/>
                  </a:lnTo>
                  <a:lnTo>
                    <a:pt x="3962880" y="2621846"/>
                  </a:lnTo>
                  <a:lnTo>
                    <a:pt x="0" y="2621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>
            <a:off x="-9525" y="10149893"/>
            <a:ext cx="18336006" cy="146589"/>
          </a:xfrm>
          <a:custGeom>
            <a:avLst/>
            <a:gdLst/>
            <a:ahLst/>
            <a:cxnLst/>
            <a:rect l="l" t="t" r="r" b="b"/>
            <a:pathLst>
              <a:path w="18336006" h="146589">
                <a:moveTo>
                  <a:pt x="0" y="0"/>
                </a:moveTo>
                <a:lnTo>
                  <a:pt x="18336006" y="0"/>
                </a:lnTo>
                <a:lnTo>
                  <a:pt x="18336006" y="146589"/>
                </a:lnTo>
                <a:lnTo>
                  <a:pt x="0" y="1465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1/24/2026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772900" y="10117531"/>
            <a:ext cx="3200400" cy="561976"/>
            <a:chOff x="0" y="0"/>
            <a:chExt cx="4267200" cy="74930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267200" cy="749301"/>
            </a:xfrm>
            <a:custGeom>
              <a:avLst/>
              <a:gdLst/>
              <a:ahLst/>
              <a:cxnLst/>
              <a:rect l="l" t="t" r="r" b="b"/>
              <a:pathLst>
                <a:path w="4267200" h="749301">
                  <a:moveTo>
                    <a:pt x="0" y="0"/>
                  </a:moveTo>
                  <a:lnTo>
                    <a:pt x="4267200" y="0"/>
                  </a:lnTo>
                  <a:lnTo>
                    <a:pt x="4267200" y="749301"/>
                  </a:lnTo>
                  <a:lnTo>
                    <a:pt x="0" y="749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4267200" cy="768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901195" y="1517488"/>
            <a:ext cx="12485610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Business Model / Impact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753850" y="355898"/>
            <a:ext cx="2900669" cy="545721"/>
            <a:chOff x="0" y="0"/>
            <a:chExt cx="3867559" cy="727628"/>
          </a:xfrm>
        </p:grpSpPr>
        <p:grpSp>
          <p:nvGrpSpPr>
            <p:cNvPr id="19" name="Group 19"/>
            <p:cNvGrpSpPr/>
            <p:nvPr/>
          </p:nvGrpSpPr>
          <p:grpSpPr>
            <a:xfrm>
              <a:off x="2250130" y="395892"/>
              <a:ext cx="74116" cy="74116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8444" tIns="8444" rIns="8444" bIns="8444" rtlCol="0" anchor="ctr"/>
              <a:lstStyle/>
              <a:p>
                <a:pPr algn="ctr">
                  <a:lnSpc>
                    <a:spcPts val="652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99300" y="-66675"/>
              <a:ext cx="2492296" cy="794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24"/>
                </a:lnSpc>
              </a:pPr>
              <a:r>
                <a:rPr lang="en-US" sz="358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Echel  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91596" y="-66675"/>
              <a:ext cx="975963" cy="785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64"/>
                </a:lnSpc>
              </a:pPr>
              <a:r>
                <a:rPr lang="en-US" sz="354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2.0</a:t>
              </a:r>
            </a:p>
          </p:txBody>
        </p:sp>
        <p:sp>
          <p:nvSpPr>
            <p:cNvPr id="24" name="Freeform 24"/>
            <p:cNvSpPr/>
            <p:nvPr/>
          </p:nvSpPr>
          <p:spPr>
            <a:xfrm rot="1652127">
              <a:off x="2141306" y="287067"/>
              <a:ext cx="291765" cy="291765"/>
            </a:xfrm>
            <a:custGeom>
              <a:avLst/>
              <a:gdLst/>
              <a:ahLst/>
              <a:cxnLst/>
              <a:rect l="l" t="t" r="r" b="b"/>
              <a:pathLst>
                <a:path w="291765" h="291765">
                  <a:moveTo>
                    <a:pt x="0" y="0"/>
                  </a:moveTo>
                  <a:lnTo>
                    <a:pt x="291765" y="0"/>
                  </a:lnTo>
                  <a:lnTo>
                    <a:pt x="291765" y="291766"/>
                  </a:lnTo>
                  <a:lnTo>
                    <a:pt x="0" y="29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150966"/>
              <a:ext cx="399300" cy="417024"/>
            </a:xfrm>
            <a:custGeom>
              <a:avLst/>
              <a:gdLst/>
              <a:ahLst/>
              <a:cxnLst/>
              <a:rect l="l" t="t" r="r" b="b"/>
              <a:pathLst>
                <a:path w="399300" h="417024">
                  <a:moveTo>
                    <a:pt x="0" y="0"/>
                  </a:moveTo>
                  <a:lnTo>
                    <a:pt x="399300" y="0"/>
                  </a:lnTo>
                  <a:lnTo>
                    <a:pt x="399300" y="417024"/>
                  </a:lnTo>
                  <a:lnTo>
                    <a:pt x="0" y="417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A9030BE-7565-D946-64DB-D0E26954EB08}"/>
              </a:ext>
            </a:extLst>
          </p:cNvPr>
          <p:cNvSpPr txBox="1"/>
          <p:nvPr/>
        </p:nvSpPr>
        <p:spPr>
          <a:xfrm>
            <a:off x="1059300" y="3265007"/>
            <a:ext cx="162000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financial institutions proactively detect fairness risks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regulatory and compliance exposure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reputational damage caused by biased AI decisions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transparency and trust in automated loan systems</a:t>
            </a:r>
          </a:p>
          <a:p>
            <a:pPr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Benefits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Banks and NBFCs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 AI systems for fairness post-deployment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&amp; Compliance Teams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Audit decision behavior using clear metrics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Regulators &amp; Auditors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Verify responsible AI usage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Fairer and more accountable decision-making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58900" y="9415306"/>
            <a:ext cx="3200400" cy="561938"/>
            <a:chOff x="0" y="0"/>
            <a:chExt cx="4267200" cy="749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67200" cy="749250"/>
            </a:xfrm>
            <a:custGeom>
              <a:avLst/>
              <a:gdLst/>
              <a:ahLst/>
              <a:cxnLst/>
              <a:rect l="l" t="t" r="r" b="b"/>
              <a:pathLst>
                <a:path w="4267200" h="749250">
                  <a:moveTo>
                    <a:pt x="0" y="0"/>
                  </a:moveTo>
                  <a:lnTo>
                    <a:pt x="4267200" y="0"/>
                  </a:lnTo>
                  <a:lnTo>
                    <a:pt x="4267200" y="749250"/>
                  </a:lnTo>
                  <a:lnTo>
                    <a:pt x="0" y="7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267200" cy="768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525" y="-38100"/>
            <a:ext cx="18335982" cy="1879438"/>
            <a:chOff x="0" y="0"/>
            <a:chExt cx="24447976" cy="25059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48008" cy="2505964"/>
            </a:xfrm>
            <a:custGeom>
              <a:avLst/>
              <a:gdLst/>
              <a:ahLst/>
              <a:cxnLst/>
              <a:rect l="l" t="t" r="r" b="b"/>
              <a:pathLst>
                <a:path w="24448008" h="2505964">
                  <a:moveTo>
                    <a:pt x="0" y="0"/>
                  </a:moveTo>
                  <a:lnTo>
                    <a:pt x="24448008" y="0"/>
                  </a:lnTo>
                  <a:lnTo>
                    <a:pt x="24448008" y="2505964"/>
                  </a:lnTo>
                  <a:lnTo>
                    <a:pt x="0" y="2505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76962" y="-38100"/>
            <a:ext cx="18488728" cy="1966385"/>
            <a:chOff x="0" y="0"/>
            <a:chExt cx="24651637" cy="26218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651637" cy="2491235"/>
            </a:xfrm>
            <a:custGeom>
              <a:avLst/>
              <a:gdLst/>
              <a:ahLst/>
              <a:cxnLst/>
              <a:rect l="l" t="t" r="r" b="b"/>
              <a:pathLst>
                <a:path w="24651637" h="2491235">
                  <a:moveTo>
                    <a:pt x="0" y="0"/>
                  </a:moveTo>
                  <a:lnTo>
                    <a:pt x="24651637" y="0"/>
                  </a:lnTo>
                  <a:lnTo>
                    <a:pt x="24651637" y="2491235"/>
                  </a:lnTo>
                  <a:lnTo>
                    <a:pt x="0" y="2491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688757" y="0"/>
              <a:ext cx="3962880" cy="2621846"/>
            </a:xfrm>
            <a:custGeom>
              <a:avLst/>
              <a:gdLst/>
              <a:ahLst/>
              <a:cxnLst/>
              <a:rect l="l" t="t" r="r" b="b"/>
              <a:pathLst>
                <a:path w="3962880" h="2621846">
                  <a:moveTo>
                    <a:pt x="0" y="0"/>
                  </a:moveTo>
                  <a:lnTo>
                    <a:pt x="3962880" y="0"/>
                  </a:lnTo>
                  <a:lnTo>
                    <a:pt x="3962880" y="2621846"/>
                  </a:lnTo>
                  <a:lnTo>
                    <a:pt x="0" y="2621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>
            <a:off x="-9525" y="10149893"/>
            <a:ext cx="18336006" cy="146589"/>
          </a:xfrm>
          <a:custGeom>
            <a:avLst/>
            <a:gdLst/>
            <a:ahLst/>
            <a:cxnLst/>
            <a:rect l="l" t="t" r="r" b="b"/>
            <a:pathLst>
              <a:path w="18336006" h="146589">
                <a:moveTo>
                  <a:pt x="0" y="0"/>
                </a:moveTo>
                <a:lnTo>
                  <a:pt x="18336006" y="0"/>
                </a:lnTo>
                <a:lnTo>
                  <a:pt x="18336006" y="146589"/>
                </a:lnTo>
                <a:lnTo>
                  <a:pt x="0" y="1465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1/24/2026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772900" y="10117531"/>
            <a:ext cx="3200400" cy="561976"/>
            <a:chOff x="0" y="0"/>
            <a:chExt cx="4267200" cy="74930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267200" cy="749301"/>
            </a:xfrm>
            <a:custGeom>
              <a:avLst/>
              <a:gdLst/>
              <a:ahLst/>
              <a:cxnLst/>
              <a:rect l="l" t="t" r="r" b="b"/>
              <a:pathLst>
                <a:path w="4267200" h="749301">
                  <a:moveTo>
                    <a:pt x="0" y="0"/>
                  </a:moveTo>
                  <a:lnTo>
                    <a:pt x="4267200" y="0"/>
                  </a:lnTo>
                  <a:lnTo>
                    <a:pt x="4267200" y="749301"/>
                  </a:lnTo>
                  <a:lnTo>
                    <a:pt x="0" y="749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4267200" cy="768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529845" y="1575860"/>
            <a:ext cx="11228310" cy="1552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Challenges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753850" y="355898"/>
            <a:ext cx="2900669" cy="545721"/>
            <a:chOff x="0" y="0"/>
            <a:chExt cx="3867559" cy="727628"/>
          </a:xfrm>
        </p:grpSpPr>
        <p:grpSp>
          <p:nvGrpSpPr>
            <p:cNvPr id="19" name="Group 19"/>
            <p:cNvGrpSpPr/>
            <p:nvPr/>
          </p:nvGrpSpPr>
          <p:grpSpPr>
            <a:xfrm>
              <a:off x="2250130" y="395892"/>
              <a:ext cx="74116" cy="74116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8444" tIns="8444" rIns="8444" bIns="8444" rtlCol="0" anchor="ctr"/>
              <a:lstStyle/>
              <a:p>
                <a:pPr algn="ctr">
                  <a:lnSpc>
                    <a:spcPts val="652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99300" y="-66675"/>
              <a:ext cx="2492296" cy="794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24"/>
                </a:lnSpc>
              </a:pPr>
              <a:r>
                <a:rPr lang="en-US" sz="358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Echel  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91596" y="-66675"/>
              <a:ext cx="975963" cy="785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64"/>
                </a:lnSpc>
              </a:pPr>
              <a:r>
                <a:rPr lang="en-US" sz="354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2.0</a:t>
              </a:r>
            </a:p>
          </p:txBody>
        </p:sp>
        <p:sp>
          <p:nvSpPr>
            <p:cNvPr id="24" name="Freeform 24"/>
            <p:cNvSpPr/>
            <p:nvPr/>
          </p:nvSpPr>
          <p:spPr>
            <a:xfrm rot="1652127">
              <a:off x="2141306" y="287067"/>
              <a:ext cx="291765" cy="291765"/>
            </a:xfrm>
            <a:custGeom>
              <a:avLst/>
              <a:gdLst/>
              <a:ahLst/>
              <a:cxnLst/>
              <a:rect l="l" t="t" r="r" b="b"/>
              <a:pathLst>
                <a:path w="291765" h="291765">
                  <a:moveTo>
                    <a:pt x="0" y="0"/>
                  </a:moveTo>
                  <a:lnTo>
                    <a:pt x="291765" y="0"/>
                  </a:lnTo>
                  <a:lnTo>
                    <a:pt x="291765" y="291766"/>
                  </a:lnTo>
                  <a:lnTo>
                    <a:pt x="0" y="29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150966"/>
              <a:ext cx="399300" cy="417024"/>
            </a:xfrm>
            <a:custGeom>
              <a:avLst/>
              <a:gdLst/>
              <a:ahLst/>
              <a:cxnLst/>
              <a:rect l="l" t="t" r="r" b="b"/>
              <a:pathLst>
                <a:path w="399300" h="417024">
                  <a:moveTo>
                    <a:pt x="0" y="0"/>
                  </a:moveTo>
                  <a:lnTo>
                    <a:pt x="399300" y="0"/>
                  </a:lnTo>
                  <a:lnTo>
                    <a:pt x="399300" y="417024"/>
                  </a:lnTo>
                  <a:lnTo>
                    <a:pt x="0" y="417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DDE3C8C1-D22B-0F5A-375F-EB7CA1EF5EA3}"/>
              </a:ext>
            </a:extLst>
          </p:cNvPr>
          <p:cNvSpPr txBox="1"/>
          <p:nvPr/>
        </p:nvSpPr>
        <p:spPr>
          <a:xfrm>
            <a:off x="1044000" y="3610649"/>
            <a:ext cx="16200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with real-world loan data containing inconsistent formats and values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a meaningful way to simulate population shift and bias drift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fairness thresholds that are realistic and interpretable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bias detection without relying on complex machine learning models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 technical depth with explainability for a hackathon 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02622-FDF6-8762-68E7-80BE1769F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0170B5B-D4E5-A42C-6922-811B8A7A9193}"/>
              </a:ext>
            </a:extLst>
          </p:cNvPr>
          <p:cNvGrpSpPr/>
          <p:nvPr/>
        </p:nvGrpSpPr>
        <p:grpSpPr>
          <a:xfrm>
            <a:off x="14058900" y="9415306"/>
            <a:ext cx="3200400" cy="561938"/>
            <a:chOff x="0" y="0"/>
            <a:chExt cx="4267200" cy="7492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04248E9-E585-760E-3A3A-D3CDBD4D377A}"/>
                </a:ext>
              </a:extLst>
            </p:cNvPr>
            <p:cNvSpPr/>
            <p:nvPr/>
          </p:nvSpPr>
          <p:spPr>
            <a:xfrm>
              <a:off x="0" y="0"/>
              <a:ext cx="4267200" cy="749250"/>
            </a:xfrm>
            <a:custGeom>
              <a:avLst/>
              <a:gdLst/>
              <a:ahLst/>
              <a:cxnLst/>
              <a:rect l="l" t="t" r="r" b="b"/>
              <a:pathLst>
                <a:path w="4267200" h="749250">
                  <a:moveTo>
                    <a:pt x="0" y="0"/>
                  </a:moveTo>
                  <a:lnTo>
                    <a:pt x="4267200" y="0"/>
                  </a:lnTo>
                  <a:lnTo>
                    <a:pt x="4267200" y="749250"/>
                  </a:lnTo>
                  <a:lnTo>
                    <a:pt x="0" y="7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C70C144-8776-ECE9-9365-C1F10F13F5D6}"/>
                </a:ext>
              </a:extLst>
            </p:cNvPr>
            <p:cNvSpPr txBox="1"/>
            <p:nvPr/>
          </p:nvSpPr>
          <p:spPr>
            <a:xfrm>
              <a:off x="0" y="-19050"/>
              <a:ext cx="4267200" cy="768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B6E3823-9DBB-0B03-2A53-259FF00CFE1A}"/>
              </a:ext>
            </a:extLst>
          </p:cNvPr>
          <p:cNvGrpSpPr/>
          <p:nvPr/>
        </p:nvGrpSpPr>
        <p:grpSpPr>
          <a:xfrm>
            <a:off x="-9525" y="-38100"/>
            <a:ext cx="18335982" cy="1879438"/>
            <a:chOff x="0" y="0"/>
            <a:chExt cx="24447976" cy="250591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C4C3833-0344-C025-0CD7-D4C2EBADEEF7}"/>
                </a:ext>
              </a:extLst>
            </p:cNvPr>
            <p:cNvSpPr/>
            <p:nvPr/>
          </p:nvSpPr>
          <p:spPr>
            <a:xfrm>
              <a:off x="0" y="0"/>
              <a:ext cx="24448008" cy="2505964"/>
            </a:xfrm>
            <a:custGeom>
              <a:avLst/>
              <a:gdLst/>
              <a:ahLst/>
              <a:cxnLst/>
              <a:rect l="l" t="t" r="r" b="b"/>
              <a:pathLst>
                <a:path w="24448008" h="2505964">
                  <a:moveTo>
                    <a:pt x="0" y="0"/>
                  </a:moveTo>
                  <a:lnTo>
                    <a:pt x="24448008" y="0"/>
                  </a:lnTo>
                  <a:lnTo>
                    <a:pt x="24448008" y="2505964"/>
                  </a:lnTo>
                  <a:lnTo>
                    <a:pt x="0" y="2505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A201F0E6-1BE9-6FBA-03AE-375643FA72C4}"/>
              </a:ext>
            </a:extLst>
          </p:cNvPr>
          <p:cNvGrpSpPr/>
          <p:nvPr/>
        </p:nvGrpSpPr>
        <p:grpSpPr>
          <a:xfrm>
            <a:off x="-76962" y="-38100"/>
            <a:ext cx="18488728" cy="1966385"/>
            <a:chOff x="0" y="0"/>
            <a:chExt cx="24651637" cy="2621846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9335223-9B8A-277B-6961-B409C33AA8FE}"/>
                </a:ext>
              </a:extLst>
            </p:cNvPr>
            <p:cNvSpPr/>
            <p:nvPr/>
          </p:nvSpPr>
          <p:spPr>
            <a:xfrm>
              <a:off x="0" y="0"/>
              <a:ext cx="24651637" cy="2491235"/>
            </a:xfrm>
            <a:custGeom>
              <a:avLst/>
              <a:gdLst/>
              <a:ahLst/>
              <a:cxnLst/>
              <a:rect l="l" t="t" r="r" b="b"/>
              <a:pathLst>
                <a:path w="24651637" h="2491235">
                  <a:moveTo>
                    <a:pt x="0" y="0"/>
                  </a:moveTo>
                  <a:lnTo>
                    <a:pt x="24651637" y="0"/>
                  </a:lnTo>
                  <a:lnTo>
                    <a:pt x="24651637" y="2491235"/>
                  </a:lnTo>
                  <a:lnTo>
                    <a:pt x="0" y="2491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15B016F-E848-B083-23B1-6EC1A88E2E56}"/>
                </a:ext>
              </a:extLst>
            </p:cNvPr>
            <p:cNvSpPr/>
            <p:nvPr/>
          </p:nvSpPr>
          <p:spPr>
            <a:xfrm>
              <a:off x="20688757" y="0"/>
              <a:ext cx="3962880" cy="2621846"/>
            </a:xfrm>
            <a:custGeom>
              <a:avLst/>
              <a:gdLst/>
              <a:ahLst/>
              <a:cxnLst/>
              <a:rect l="l" t="t" r="r" b="b"/>
              <a:pathLst>
                <a:path w="3962880" h="2621846">
                  <a:moveTo>
                    <a:pt x="0" y="0"/>
                  </a:moveTo>
                  <a:lnTo>
                    <a:pt x="3962880" y="0"/>
                  </a:lnTo>
                  <a:lnTo>
                    <a:pt x="3962880" y="2621846"/>
                  </a:lnTo>
                  <a:lnTo>
                    <a:pt x="0" y="2621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F345482C-3154-57C2-5624-2545754C1CAE}"/>
              </a:ext>
            </a:extLst>
          </p:cNvPr>
          <p:cNvSpPr/>
          <p:nvPr/>
        </p:nvSpPr>
        <p:spPr>
          <a:xfrm>
            <a:off x="-9525" y="10149893"/>
            <a:ext cx="18336006" cy="146589"/>
          </a:xfrm>
          <a:custGeom>
            <a:avLst/>
            <a:gdLst/>
            <a:ahLst/>
            <a:cxnLst/>
            <a:rect l="l" t="t" r="r" b="b"/>
            <a:pathLst>
              <a:path w="18336006" h="146589">
                <a:moveTo>
                  <a:pt x="0" y="0"/>
                </a:moveTo>
                <a:lnTo>
                  <a:pt x="18336006" y="0"/>
                </a:lnTo>
                <a:lnTo>
                  <a:pt x="18336006" y="146589"/>
                </a:lnTo>
                <a:lnTo>
                  <a:pt x="0" y="1465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EEE14FB-F7DC-C865-59DF-C75474E5E8A7}"/>
              </a:ext>
            </a:extLst>
          </p:cNvPr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154BEF0-A47C-E40D-EDD6-D18C0CA4C21F}"/>
                </a:ext>
              </a:extLst>
            </p:cNvPr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012FB9F-802A-B08A-9BD0-893527611CD3}"/>
                </a:ext>
              </a:extLst>
            </p:cNvPr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1/24/2026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DCD08CCA-4CEC-B746-F095-477920EA05D5}"/>
              </a:ext>
            </a:extLst>
          </p:cNvPr>
          <p:cNvGrpSpPr/>
          <p:nvPr/>
        </p:nvGrpSpPr>
        <p:grpSpPr>
          <a:xfrm>
            <a:off x="11772900" y="10117531"/>
            <a:ext cx="3200400" cy="561976"/>
            <a:chOff x="0" y="0"/>
            <a:chExt cx="4267200" cy="749301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0A87B5BE-C460-5E7C-440C-1E570F72A10D}"/>
                </a:ext>
              </a:extLst>
            </p:cNvPr>
            <p:cNvSpPr/>
            <p:nvPr/>
          </p:nvSpPr>
          <p:spPr>
            <a:xfrm>
              <a:off x="0" y="0"/>
              <a:ext cx="4267200" cy="749301"/>
            </a:xfrm>
            <a:custGeom>
              <a:avLst/>
              <a:gdLst/>
              <a:ahLst/>
              <a:cxnLst/>
              <a:rect l="l" t="t" r="r" b="b"/>
              <a:pathLst>
                <a:path w="4267200" h="749301">
                  <a:moveTo>
                    <a:pt x="0" y="0"/>
                  </a:moveTo>
                  <a:lnTo>
                    <a:pt x="4267200" y="0"/>
                  </a:lnTo>
                  <a:lnTo>
                    <a:pt x="4267200" y="749301"/>
                  </a:lnTo>
                  <a:lnTo>
                    <a:pt x="0" y="749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769644F4-9FA6-4CEF-1383-1C59087F9363}"/>
                </a:ext>
              </a:extLst>
            </p:cNvPr>
            <p:cNvSpPr txBox="1"/>
            <p:nvPr/>
          </p:nvSpPr>
          <p:spPr>
            <a:xfrm>
              <a:off x="0" y="-19050"/>
              <a:ext cx="4267200" cy="768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A5F3FE96-225A-9468-DD60-9525C6D3C5AB}"/>
              </a:ext>
            </a:extLst>
          </p:cNvPr>
          <p:cNvSpPr txBox="1"/>
          <p:nvPr/>
        </p:nvSpPr>
        <p:spPr>
          <a:xfrm>
            <a:off x="3529845" y="1575860"/>
            <a:ext cx="11228310" cy="1552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Learnings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2BB88A34-26AD-873D-0E38-6BC514FD3A45}"/>
              </a:ext>
            </a:extLst>
          </p:cNvPr>
          <p:cNvGrpSpPr/>
          <p:nvPr/>
        </p:nvGrpSpPr>
        <p:grpSpPr>
          <a:xfrm>
            <a:off x="11753850" y="355898"/>
            <a:ext cx="2900669" cy="545721"/>
            <a:chOff x="0" y="0"/>
            <a:chExt cx="3867559" cy="727628"/>
          </a:xfrm>
        </p:grpSpPr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500A9A1F-F04E-4531-6DB2-0756E97913C1}"/>
                </a:ext>
              </a:extLst>
            </p:cNvPr>
            <p:cNvGrpSpPr/>
            <p:nvPr/>
          </p:nvGrpSpPr>
          <p:grpSpPr>
            <a:xfrm>
              <a:off x="2250130" y="395892"/>
              <a:ext cx="74116" cy="74116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D7A3D34F-7DCC-7E69-5FFF-6903FD2E57E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ADC15041-B24B-1279-C3B4-ED0BE4DC8AB7}"/>
                  </a:ext>
                </a:extLst>
              </p:cNvPr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8444" tIns="8444" rIns="8444" bIns="8444" rtlCol="0" anchor="ctr"/>
              <a:lstStyle/>
              <a:p>
                <a:pPr algn="ctr">
                  <a:lnSpc>
                    <a:spcPts val="652"/>
                  </a:lnSpc>
                </a:pPr>
                <a:endParaRPr/>
              </a:p>
            </p:txBody>
          </p:sp>
        </p:grp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13194281-73F7-FB21-216C-BFF4780B89D6}"/>
                </a:ext>
              </a:extLst>
            </p:cNvPr>
            <p:cNvSpPr txBox="1"/>
            <p:nvPr/>
          </p:nvSpPr>
          <p:spPr>
            <a:xfrm>
              <a:off x="399300" y="-66675"/>
              <a:ext cx="2492296" cy="794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24"/>
                </a:lnSpc>
              </a:pPr>
              <a:r>
                <a:rPr lang="en-US" sz="358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Echel  n</a:t>
              </a: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2E25FBBF-0462-EC91-6B1D-112A74FE76E6}"/>
                </a:ext>
              </a:extLst>
            </p:cNvPr>
            <p:cNvSpPr txBox="1"/>
            <p:nvPr/>
          </p:nvSpPr>
          <p:spPr>
            <a:xfrm>
              <a:off x="2891596" y="-66675"/>
              <a:ext cx="975963" cy="785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64"/>
                </a:lnSpc>
              </a:pPr>
              <a:r>
                <a:rPr lang="en-US" sz="354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2.0</a:t>
              </a:r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656CC9F2-A56B-0429-C91D-66D8EF4580F1}"/>
                </a:ext>
              </a:extLst>
            </p:cNvPr>
            <p:cNvSpPr/>
            <p:nvPr/>
          </p:nvSpPr>
          <p:spPr>
            <a:xfrm rot="1652127">
              <a:off x="2141306" y="287067"/>
              <a:ext cx="291765" cy="291765"/>
            </a:xfrm>
            <a:custGeom>
              <a:avLst/>
              <a:gdLst/>
              <a:ahLst/>
              <a:cxnLst/>
              <a:rect l="l" t="t" r="r" b="b"/>
              <a:pathLst>
                <a:path w="291765" h="291765">
                  <a:moveTo>
                    <a:pt x="0" y="0"/>
                  </a:moveTo>
                  <a:lnTo>
                    <a:pt x="291765" y="0"/>
                  </a:lnTo>
                  <a:lnTo>
                    <a:pt x="291765" y="291766"/>
                  </a:lnTo>
                  <a:lnTo>
                    <a:pt x="0" y="29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3F316C74-A707-E1F4-3EB6-7948C2B1FBF9}"/>
                </a:ext>
              </a:extLst>
            </p:cNvPr>
            <p:cNvSpPr/>
            <p:nvPr/>
          </p:nvSpPr>
          <p:spPr>
            <a:xfrm>
              <a:off x="0" y="150966"/>
              <a:ext cx="399300" cy="417024"/>
            </a:xfrm>
            <a:custGeom>
              <a:avLst/>
              <a:gdLst/>
              <a:ahLst/>
              <a:cxnLst/>
              <a:rect l="l" t="t" r="r" b="b"/>
              <a:pathLst>
                <a:path w="399300" h="417024">
                  <a:moveTo>
                    <a:pt x="0" y="0"/>
                  </a:moveTo>
                  <a:lnTo>
                    <a:pt x="399300" y="0"/>
                  </a:lnTo>
                  <a:lnTo>
                    <a:pt x="399300" y="417024"/>
                  </a:lnTo>
                  <a:lnTo>
                    <a:pt x="0" y="417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8" name="Rectangle 2">
            <a:extLst>
              <a:ext uri="{FF2B5EF4-FFF2-40B4-BE49-F238E27FC236}">
                <a16:creationId xmlns:a16="http://schemas.microsoft.com/office/drawing/2014/main" id="{78DEF054-2842-BF29-40D9-728894BE7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000" y="3542245"/>
            <a:ext cx="1620000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Bias often emerges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deployment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not at training time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Monitoring AI systems is as important as building them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Simple, transparent metrics can be more effective than black-box models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 data changes can lead to significant fairness issues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Responsible AI requires continuous oversight, not one-time checks</a:t>
            </a:r>
          </a:p>
        </p:txBody>
      </p:sp>
    </p:spTree>
    <p:extLst>
      <p:ext uri="{BB962C8B-B14F-4D97-AF65-F5344CB8AC3E}">
        <p14:creationId xmlns:p14="http://schemas.microsoft.com/office/powerpoint/2010/main" val="3221427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58900" y="9415306"/>
            <a:ext cx="3200400" cy="561938"/>
            <a:chOff x="0" y="0"/>
            <a:chExt cx="4267200" cy="749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67200" cy="749250"/>
            </a:xfrm>
            <a:custGeom>
              <a:avLst/>
              <a:gdLst/>
              <a:ahLst/>
              <a:cxnLst/>
              <a:rect l="l" t="t" r="r" b="b"/>
              <a:pathLst>
                <a:path w="4267200" h="749250">
                  <a:moveTo>
                    <a:pt x="0" y="0"/>
                  </a:moveTo>
                  <a:lnTo>
                    <a:pt x="4267200" y="0"/>
                  </a:lnTo>
                  <a:lnTo>
                    <a:pt x="4267200" y="749250"/>
                  </a:lnTo>
                  <a:lnTo>
                    <a:pt x="0" y="7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267200" cy="768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525" y="-38100"/>
            <a:ext cx="18335982" cy="1879438"/>
            <a:chOff x="0" y="0"/>
            <a:chExt cx="24447976" cy="25059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48008" cy="2505964"/>
            </a:xfrm>
            <a:custGeom>
              <a:avLst/>
              <a:gdLst/>
              <a:ahLst/>
              <a:cxnLst/>
              <a:rect l="l" t="t" r="r" b="b"/>
              <a:pathLst>
                <a:path w="24448008" h="2505964">
                  <a:moveTo>
                    <a:pt x="0" y="0"/>
                  </a:moveTo>
                  <a:lnTo>
                    <a:pt x="24448008" y="0"/>
                  </a:lnTo>
                  <a:lnTo>
                    <a:pt x="24448008" y="2505964"/>
                  </a:lnTo>
                  <a:lnTo>
                    <a:pt x="0" y="2505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76962" y="-38100"/>
            <a:ext cx="18488728" cy="1966385"/>
            <a:chOff x="0" y="0"/>
            <a:chExt cx="24651637" cy="26218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651637" cy="2491235"/>
            </a:xfrm>
            <a:custGeom>
              <a:avLst/>
              <a:gdLst/>
              <a:ahLst/>
              <a:cxnLst/>
              <a:rect l="l" t="t" r="r" b="b"/>
              <a:pathLst>
                <a:path w="24651637" h="2491235">
                  <a:moveTo>
                    <a:pt x="0" y="0"/>
                  </a:moveTo>
                  <a:lnTo>
                    <a:pt x="24651637" y="0"/>
                  </a:lnTo>
                  <a:lnTo>
                    <a:pt x="24651637" y="2491235"/>
                  </a:lnTo>
                  <a:lnTo>
                    <a:pt x="0" y="2491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688757" y="0"/>
              <a:ext cx="3962880" cy="2621846"/>
            </a:xfrm>
            <a:custGeom>
              <a:avLst/>
              <a:gdLst/>
              <a:ahLst/>
              <a:cxnLst/>
              <a:rect l="l" t="t" r="r" b="b"/>
              <a:pathLst>
                <a:path w="3962880" h="2621846">
                  <a:moveTo>
                    <a:pt x="0" y="0"/>
                  </a:moveTo>
                  <a:lnTo>
                    <a:pt x="3962880" y="0"/>
                  </a:lnTo>
                  <a:lnTo>
                    <a:pt x="3962880" y="2621846"/>
                  </a:lnTo>
                  <a:lnTo>
                    <a:pt x="0" y="2621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>
            <a:off x="-9525" y="10149893"/>
            <a:ext cx="18336006" cy="146589"/>
          </a:xfrm>
          <a:custGeom>
            <a:avLst/>
            <a:gdLst/>
            <a:ahLst/>
            <a:cxnLst/>
            <a:rect l="l" t="t" r="r" b="b"/>
            <a:pathLst>
              <a:path w="18336006" h="146589">
                <a:moveTo>
                  <a:pt x="0" y="0"/>
                </a:moveTo>
                <a:lnTo>
                  <a:pt x="18336006" y="0"/>
                </a:lnTo>
                <a:lnTo>
                  <a:pt x="18336006" y="146589"/>
                </a:lnTo>
                <a:lnTo>
                  <a:pt x="0" y="1465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1/24/2026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772900" y="10117531"/>
            <a:ext cx="3200400" cy="561976"/>
            <a:chOff x="0" y="0"/>
            <a:chExt cx="4267200" cy="74930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267200" cy="749301"/>
            </a:xfrm>
            <a:custGeom>
              <a:avLst/>
              <a:gdLst/>
              <a:ahLst/>
              <a:cxnLst/>
              <a:rect l="l" t="t" r="r" b="b"/>
              <a:pathLst>
                <a:path w="4267200" h="749301">
                  <a:moveTo>
                    <a:pt x="0" y="0"/>
                  </a:moveTo>
                  <a:lnTo>
                    <a:pt x="4267200" y="0"/>
                  </a:lnTo>
                  <a:lnTo>
                    <a:pt x="4267200" y="749301"/>
                  </a:lnTo>
                  <a:lnTo>
                    <a:pt x="0" y="749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4267200" cy="768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105717" y="1566335"/>
            <a:ext cx="8076567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Roadmap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753850" y="355898"/>
            <a:ext cx="2900669" cy="545721"/>
            <a:chOff x="0" y="0"/>
            <a:chExt cx="3867559" cy="727628"/>
          </a:xfrm>
        </p:grpSpPr>
        <p:grpSp>
          <p:nvGrpSpPr>
            <p:cNvPr id="19" name="Group 19"/>
            <p:cNvGrpSpPr/>
            <p:nvPr/>
          </p:nvGrpSpPr>
          <p:grpSpPr>
            <a:xfrm>
              <a:off x="2250130" y="395892"/>
              <a:ext cx="74116" cy="74116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8444" tIns="8444" rIns="8444" bIns="8444" rtlCol="0" anchor="ctr"/>
              <a:lstStyle/>
              <a:p>
                <a:pPr algn="ctr">
                  <a:lnSpc>
                    <a:spcPts val="652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99300" y="-66675"/>
              <a:ext cx="2492296" cy="794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24"/>
                </a:lnSpc>
              </a:pPr>
              <a:r>
                <a:rPr lang="en-US" sz="358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Echel  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91596" y="-66675"/>
              <a:ext cx="975963" cy="785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64"/>
                </a:lnSpc>
              </a:pPr>
              <a:r>
                <a:rPr lang="en-US" sz="354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2.0</a:t>
              </a:r>
            </a:p>
          </p:txBody>
        </p:sp>
        <p:sp>
          <p:nvSpPr>
            <p:cNvPr id="24" name="Freeform 24"/>
            <p:cNvSpPr/>
            <p:nvPr/>
          </p:nvSpPr>
          <p:spPr>
            <a:xfrm rot="1652127">
              <a:off x="2141306" y="287067"/>
              <a:ext cx="291765" cy="291765"/>
            </a:xfrm>
            <a:custGeom>
              <a:avLst/>
              <a:gdLst/>
              <a:ahLst/>
              <a:cxnLst/>
              <a:rect l="l" t="t" r="r" b="b"/>
              <a:pathLst>
                <a:path w="291765" h="291765">
                  <a:moveTo>
                    <a:pt x="0" y="0"/>
                  </a:moveTo>
                  <a:lnTo>
                    <a:pt x="291765" y="0"/>
                  </a:lnTo>
                  <a:lnTo>
                    <a:pt x="291765" y="291766"/>
                  </a:lnTo>
                  <a:lnTo>
                    <a:pt x="0" y="29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150966"/>
              <a:ext cx="399300" cy="417024"/>
            </a:xfrm>
            <a:custGeom>
              <a:avLst/>
              <a:gdLst/>
              <a:ahLst/>
              <a:cxnLst/>
              <a:rect l="l" t="t" r="r" b="b"/>
              <a:pathLst>
                <a:path w="399300" h="417024">
                  <a:moveTo>
                    <a:pt x="0" y="0"/>
                  </a:moveTo>
                  <a:lnTo>
                    <a:pt x="399300" y="0"/>
                  </a:lnTo>
                  <a:lnTo>
                    <a:pt x="399300" y="417024"/>
                  </a:lnTo>
                  <a:lnTo>
                    <a:pt x="0" y="417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12D48C77-D423-6FEE-702C-21B8760A4E60}"/>
              </a:ext>
            </a:extLst>
          </p:cNvPr>
          <p:cNvSpPr txBox="1"/>
          <p:nvPr/>
        </p:nvSpPr>
        <p:spPr>
          <a:xfrm>
            <a:off x="1044000" y="3488629"/>
            <a:ext cx="16200000" cy="56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Enhancements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sensitive attributes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 gender, income group, education level)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 metrics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(false negative rate, demographic parity, approval consistency)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streaming decision logs instead of static CSV uploads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reporting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fairness and compliance reports for audits and regulators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integration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with existing banking and fintech decision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58900" y="9415306"/>
            <a:ext cx="3200400" cy="561938"/>
            <a:chOff x="0" y="0"/>
            <a:chExt cx="4267200" cy="749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67200" cy="749250"/>
            </a:xfrm>
            <a:custGeom>
              <a:avLst/>
              <a:gdLst/>
              <a:ahLst/>
              <a:cxnLst/>
              <a:rect l="l" t="t" r="r" b="b"/>
              <a:pathLst>
                <a:path w="4267200" h="749250">
                  <a:moveTo>
                    <a:pt x="0" y="0"/>
                  </a:moveTo>
                  <a:lnTo>
                    <a:pt x="4267200" y="0"/>
                  </a:lnTo>
                  <a:lnTo>
                    <a:pt x="4267200" y="749250"/>
                  </a:lnTo>
                  <a:lnTo>
                    <a:pt x="0" y="7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267200" cy="768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525" y="-38100"/>
            <a:ext cx="18335982" cy="1879438"/>
            <a:chOff x="0" y="0"/>
            <a:chExt cx="24447976" cy="25059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48008" cy="2505964"/>
            </a:xfrm>
            <a:custGeom>
              <a:avLst/>
              <a:gdLst/>
              <a:ahLst/>
              <a:cxnLst/>
              <a:rect l="l" t="t" r="r" b="b"/>
              <a:pathLst>
                <a:path w="24448008" h="2505964">
                  <a:moveTo>
                    <a:pt x="0" y="0"/>
                  </a:moveTo>
                  <a:lnTo>
                    <a:pt x="24448008" y="0"/>
                  </a:lnTo>
                  <a:lnTo>
                    <a:pt x="24448008" y="2505964"/>
                  </a:lnTo>
                  <a:lnTo>
                    <a:pt x="0" y="2505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76962" y="-38100"/>
            <a:ext cx="18488728" cy="1966385"/>
            <a:chOff x="0" y="0"/>
            <a:chExt cx="24651637" cy="26218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651637" cy="2491235"/>
            </a:xfrm>
            <a:custGeom>
              <a:avLst/>
              <a:gdLst/>
              <a:ahLst/>
              <a:cxnLst/>
              <a:rect l="l" t="t" r="r" b="b"/>
              <a:pathLst>
                <a:path w="24651637" h="2491235">
                  <a:moveTo>
                    <a:pt x="0" y="0"/>
                  </a:moveTo>
                  <a:lnTo>
                    <a:pt x="24651637" y="0"/>
                  </a:lnTo>
                  <a:lnTo>
                    <a:pt x="24651637" y="2491235"/>
                  </a:lnTo>
                  <a:lnTo>
                    <a:pt x="0" y="2491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688757" y="0"/>
              <a:ext cx="3962880" cy="2621846"/>
            </a:xfrm>
            <a:custGeom>
              <a:avLst/>
              <a:gdLst/>
              <a:ahLst/>
              <a:cxnLst/>
              <a:rect l="l" t="t" r="r" b="b"/>
              <a:pathLst>
                <a:path w="3962880" h="2621846">
                  <a:moveTo>
                    <a:pt x="0" y="0"/>
                  </a:moveTo>
                  <a:lnTo>
                    <a:pt x="3962880" y="0"/>
                  </a:lnTo>
                  <a:lnTo>
                    <a:pt x="3962880" y="2621846"/>
                  </a:lnTo>
                  <a:lnTo>
                    <a:pt x="0" y="2621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>
            <a:off x="-9525" y="10149893"/>
            <a:ext cx="18336006" cy="146589"/>
          </a:xfrm>
          <a:custGeom>
            <a:avLst/>
            <a:gdLst/>
            <a:ahLst/>
            <a:cxnLst/>
            <a:rect l="l" t="t" r="r" b="b"/>
            <a:pathLst>
              <a:path w="18336006" h="146589">
                <a:moveTo>
                  <a:pt x="0" y="0"/>
                </a:moveTo>
                <a:lnTo>
                  <a:pt x="18336006" y="0"/>
                </a:lnTo>
                <a:lnTo>
                  <a:pt x="18336006" y="146589"/>
                </a:lnTo>
                <a:lnTo>
                  <a:pt x="0" y="1465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1/24/2026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772900" y="10117531"/>
            <a:ext cx="3200400" cy="561976"/>
            <a:chOff x="0" y="0"/>
            <a:chExt cx="4267200" cy="74930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267200" cy="749301"/>
            </a:xfrm>
            <a:custGeom>
              <a:avLst/>
              <a:gdLst/>
              <a:ahLst/>
              <a:cxnLst/>
              <a:rect l="l" t="t" r="r" b="b"/>
              <a:pathLst>
                <a:path w="4267200" h="749301">
                  <a:moveTo>
                    <a:pt x="0" y="0"/>
                  </a:moveTo>
                  <a:lnTo>
                    <a:pt x="4267200" y="0"/>
                  </a:lnTo>
                  <a:lnTo>
                    <a:pt x="4267200" y="749301"/>
                  </a:lnTo>
                  <a:lnTo>
                    <a:pt x="0" y="749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4267200" cy="768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105717" y="1566335"/>
            <a:ext cx="8076567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753850" y="355898"/>
            <a:ext cx="2900669" cy="545721"/>
            <a:chOff x="0" y="0"/>
            <a:chExt cx="3867559" cy="727628"/>
          </a:xfrm>
        </p:grpSpPr>
        <p:grpSp>
          <p:nvGrpSpPr>
            <p:cNvPr id="19" name="Group 19"/>
            <p:cNvGrpSpPr/>
            <p:nvPr/>
          </p:nvGrpSpPr>
          <p:grpSpPr>
            <a:xfrm>
              <a:off x="2250130" y="395892"/>
              <a:ext cx="74116" cy="74116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8444" tIns="8444" rIns="8444" bIns="8444" rtlCol="0" anchor="ctr"/>
              <a:lstStyle/>
              <a:p>
                <a:pPr algn="ctr">
                  <a:lnSpc>
                    <a:spcPts val="652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99300" y="-66675"/>
              <a:ext cx="2492296" cy="794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24"/>
                </a:lnSpc>
              </a:pPr>
              <a:r>
                <a:rPr lang="en-US" sz="358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Echel  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91596" y="-66675"/>
              <a:ext cx="975963" cy="785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64"/>
                </a:lnSpc>
              </a:pPr>
              <a:r>
                <a:rPr lang="en-US" sz="354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2.0</a:t>
              </a:r>
            </a:p>
          </p:txBody>
        </p:sp>
        <p:sp>
          <p:nvSpPr>
            <p:cNvPr id="24" name="Freeform 24"/>
            <p:cNvSpPr/>
            <p:nvPr/>
          </p:nvSpPr>
          <p:spPr>
            <a:xfrm rot="1652127">
              <a:off x="2141306" y="287067"/>
              <a:ext cx="291765" cy="291765"/>
            </a:xfrm>
            <a:custGeom>
              <a:avLst/>
              <a:gdLst/>
              <a:ahLst/>
              <a:cxnLst/>
              <a:rect l="l" t="t" r="r" b="b"/>
              <a:pathLst>
                <a:path w="291765" h="291765">
                  <a:moveTo>
                    <a:pt x="0" y="0"/>
                  </a:moveTo>
                  <a:lnTo>
                    <a:pt x="291765" y="0"/>
                  </a:lnTo>
                  <a:lnTo>
                    <a:pt x="291765" y="291766"/>
                  </a:lnTo>
                  <a:lnTo>
                    <a:pt x="0" y="29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150966"/>
              <a:ext cx="399300" cy="417024"/>
            </a:xfrm>
            <a:custGeom>
              <a:avLst/>
              <a:gdLst/>
              <a:ahLst/>
              <a:cxnLst/>
              <a:rect l="l" t="t" r="r" b="b"/>
              <a:pathLst>
                <a:path w="399300" h="417024">
                  <a:moveTo>
                    <a:pt x="0" y="0"/>
                  </a:moveTo>
                  <a:lnTo>
                    <a:pt x="399300" y="0"/>
                  </a:lnTo>
                  <a:lnTo>
                    <a:pt x="399300" y="417024"/>
                  </a:lnTo>
                  <a:lnTo>
                    <a:pt x="0" y="417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B4719CC-EBA1-D460-A138-972B01A1D717}"/>
              </a:ext>
            </a:extLst>
          </p:cNvPr>
          <p:cNvSpPr txBox="1"/>
          <p:nvPr/>
        </p:nvSpPr>
        <p:spPr>
          <a:xfrm>
            <a:off x="1044000" y="3975024"/>
            <a:ext cx="16200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BiasWatch highlights the importance of monitoring algorithmic fairness after deployment in AI-driven loan approval systems. As real-world population dynamics change, bias can emerge even when models remain unchanged. BiasWatch addresses this by analyzing loan decision logs, comparing group-wise approval rates, and detecting bias drift using transparent, policy-driven thresholds. The system is explainable, practical, and well-suited for regulated financial environments, demonstrating that responsible AI requires continuous monitoring—not just accurate model development.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373395">
            <a:off x="2729282" y="1085153"/>
            <a:ext cx="1240334" cy="9525"/>
            <a:chOff x="0" y="0"/>
            <a:chExt cx="1653779" cy="12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3794" cy="12700"/>
            </a:xfrm>
            <a:custGeom>
              <a:avLst/>
              <a:gdLst/>
              <a:ahLst/>
              <a:cxnLst/>
              <a:rect l="l" t="t" r="r" b="b"/>
              <a:pathLst>
                <a:path w="1653794" h="12700">
                  <a:moveTo>
                    <a:pt x="6350" y="0"/>
                  </a:moveTo>
                  <a:lnTo>
                    <a:pt x="1647444" y="0"/>
                  </a:lnTo>
                  <a:cubicBezTo>
                    <a:pt x="1651000" y="0"/>
                    <a:pt x="1653794" y="2794"/>
                    <a:pt x="1653794" y="6350"/>
                  </a:cubicBezTo>
                  <a:cubicBezTo>
                    <a:pt x="1653794" y="9906"/>
                    <a:pt x="1651000" y="12700"/>
                    <a:pt x="1647444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5105717" y="4093528"/>
            <a:ext cx="8076567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4058900" y="9415306"/>
            <a:ext cx="3200400" cy="561938"/>
            <a:chOff x="0" y="0"/>
            <a:chExt cx="4267200" cy="749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67200" cy="749250"/>
            </a:xfrm>
            <a:custGeom>
              <a:avLst/>
              <a:gdLst/>
              <a:ahLst/>
              <a:cxnLst/>
              <a:rect l="l" t="t" r="r" b="b"/>
              <a:pathLst>
                <a:path w="4267200" h="749250">
                  <a:moveTo>
                    <a:pt x="0" y="0"/>
                  </a:moveTo>
                  <a:lnTo>
                    <a:pt x="4267200" y="0"/>
                  </a:lnTo>
                  <a:lnTo>
                    <a:pt x="4267200" y="749250"/>
                  </a:lnTo>
                  <a:lnTo>
                    <a:pt x="0" y="7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4267200" cy="768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-9525" y="10149893"/>
            <a:ext cx="18336006" cy="146589"/>
          </a:xfrm>
          <a:custGeom>
            <a:avLst/>
            <a:gdLst/>
            <a:ahLst/>
            <a:cxnLst/>
            <a:rect l="l" t="t" r="r" b="b"/>
            <a:pathLst>
              <a:path w="18336006" h="146589">
                <a:moveTo>
                  <a:pt x="0" y="0"/>
                </a:moveTo>
                <a:lnTo>
                  <a:pt x="18336006" y="0"/>
                </a:lnTo>
                <a:lnTo>
                  <a:pt x="18336006" y="146589"/>
                </a:lnTo>
                <a:lnTo>
                  <a:pt x="0" y="146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1257300" y="9505950"/>
            <a:ext cx="4114800" cy="576263"/>
            <a:chOff x="0" y="0"/>
            <a:chExt cx="5486400" cy="76835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486400" cy="768351"/>
            </a:xfrm>
            <a:custGeom>
              <a:avLst/>
              <a:gdLst/>
              <a:ahLst/>
              <a:cxnLst/>
              <a:rect l="l" t="t" r="r" b="b"/>
              <a:pathLst>
                <a:path w="5486400" h="768351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1/24/2026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772900" y="10117531"/>
            <a:ext cx="3200400" cy="561976"/>
            <a:chOff x="0" y="0"/>
            <a:chExt cx="4267200" cy="74930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267200" cy="749301"/>
            </a:xfrm>
            <a:custGeom>
              <a:avLst/>
              <a:gdLst/>
              <a:ahLst/>
              <a:cxnLst/>
              <a:rect l="l" t="t" r="r" b="b"/>
              <a:pathLst>
                <a:path w="4267200" h="749301">
                  <a:moveTo>
                    <a:pt x="0" y="0"/>
                  </a:moveTo>
                  <a:lnTo>
                    <a:pt x="4267200" y="0"/>
                  </a:lnTo>
                  <a:lnTo>
                    <a:pt x="4267200" y="749301"/>
                  </a:lnTo>
                  <a:lnTo>
                    <a:pt x="0" y="749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4267200" cy="768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88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76962" y="-38100"/>
            <a:ext cx="18488728" cy="1966385"/>
            <a:chOff x="0" y="0"/>
            <a:chExt cx="24651637" cy="262184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651637" cy="2491235"/>
            </a:xfrm>
            <a:custGeom>
              <a:avLst/>
              <a:gdLst/>
              <a:ahLst/>
              <a:cxnLst/>
              <a:rect l="l" t="t" r="r" b="b"/>
              <a:pathLst>
                <a:path w="24651637" h="2491235">
                  <a:moveTo>
                    <a:pt x="0" y="0"/>
                  </a:moveTo>
                  <a:lnTo>
                    <a:pt x="24651637" y="0"/>
                  </a:lnTo>
                  <a:lnTo>
                    <a:pt x="24651637" y="2491235"/>
                  </a:lnTo>
                  <a:lnTo>
                    <a:pt x="0" y="2491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0688757" y="0"/>
              <a:ext cx="3962880" cy="2621846"/>
            </a:xfrm>
            <a:custGeom>
              <a:avLst/>
              <a:gdLst/>
              <a:ahLst/>
              <a:cxnLst/>
              <a:rect l="l" t="t" r="r" b="b"/>
              <a:pathLst>
                <a:path w="3962880" h="2621846">
                  <a:moveTo>
                    <a:pt x="0" y="0"/>
                  </a:moveTo>
                  <a:lnTo>
                    <a:pt x="3962880" y="0"/>
                  </a:lnTo>
                  <a:lnTo>
                    <a:pt x="3962880" y="2621846"/>
                  </a:lnTo>
                  <a:lnTo>
                    <a:pt x="0" y="2621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42" b="-44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753850" y="355898"/>
            <a:ext cx="2900669" cy="545721"/>
            <a:chOff x="0" y="0"/>
            <a:chExt cx="3867559" cy="727628"/>
          </a:xfrm>
        </p:grpSpPr>
        <p:grpSp>
          <p:nvGrpSpPr>
            <p:cNvPr id="19" name="Group 19"/>
            <p:cNvGrpSpPr/>
            <p:nvPr/>
          </p:nvGrpSpPr>
          <p:grpSpPr>
            <a:xfrm>
              <a:off x="2250130" y="395892"/>
              <a:ext cx="74116" cy="74116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8444" tIns="8444" rIns="8444" bIns="8444" rtlCol="0" anchor="ctr"/>
              <a:lstStyle/>
              <a:p>
                <a:pPr algn="ctr">
                  <a:lnSpc>
                    <a:spcPts val="652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99300" y="-66675"/>
              <a:ext cx="2492296" cy="794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24"/>
                </a:lnSpc>
              </a:pPr>
              <a:r>
                <a:rPr lang="en-US" sz="358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Echel  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91596" y="-66675"/>
              <a:ext cx="975963" cy="785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64"/>
                </a:lnSpc>
              </a:pPr>
              <a:r>
                <a:rPr lang="en-US" sz="354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2.0</a:t>
              </a:r>
            </a:p>
          </p:txBody>
        </p:sp>
        <p:sp>
          <p:nvSpPr>
            <p:cNvPr id="24" name="Freeform 24"/>
            <p:cNvSpPr/>
            <p:nvPr/>
          </p:nvSpPr>
          <p:spPr>
            <a:xfrm rot="1652127">
              <a:off x="2141306" y="287067"/>
              <a:ext cx="291765" cy="291765"/>
            </a:xfrm>
            <a:custGeom>
              <a:avLst/>
              <a:gdLst/>
              <a:ahLst/>
              <a:cxnLst/>
              <a:rect l="l" t="t" r="r" b="b"/>
              <a:pathLst>
                <a:path w="291765" h="291765">
                  <a:moveTo>
                    <a:pt x="0" y="0"/>
                  </a:moveTo>
                  <a:lnTo>
                    <a:pt x="291765" y="0"/>
                  </a:lnTo>
                  <a:lnTo>
                    <a:pt x="291765" y="291766"/>
                  </a:lnTo>
                  <a:lnTo>
                    <a:pt x="0" y="29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150966"/>
              <a:ext cx="399300" cy="417024"/>
            </a:xfrm>
            <a:custGeom>
              <a:avLst/>
              <a:gdLst/>
              <a:ahLst/>
              <a:cxnLst/>
              <a:rect l="l" t="t" r="r" b="b"/>
              <a:pathLst>
                <a:path w="399300" h="417024">
                  <a:moveTo>
                    <a:pt x="0" y="0"/>
                  </a:moveTo>
                  <a:lnTo>
                    <a:pt x="399300" y="0"/>
                  </a:lnTo>
                  <a:lnTo>
                    <a:pt x="399300" y="417024"/>
                  </a:lnTo>
                  <a:lnTo>
                    <a:pt x="0" y="417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880</Words>
  <Application>Microsoft Office PowerPoint</Application>
  <PresentationFormat>Custom</PresentationFormat>
  <Paragraphs>182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Times New Roman</vt:lpstr>
      <vt:lpstr>Calibri (MS) Bold</vt:lpstr>
      <vt:lpstr>Calibri (MS)</vt:lpstr>
      <vt:lpstr>Garet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A266_MBA Tech. (Computer) Semester III Course Community Services Academic Year 2024-25.pptx</dc:title>
  <dc:creator>Jugraj Singh Seviya</dc:creator>
  <cp:lastModifiedBy>JUGRAJ SINGH SEVIYA - 70562400012</cp:lastModifiedBy>
  <cp:revision>6</cp:revision>
  <dcterms:created xsi:type="dcterms:W3CDTF">2006-08-16T00:00:00Z</dcterms:created>
  <dcterms:modified xsi:type="dcterms:W3CDTF">2026-01-25T05:38:35Z</dcterms:modified>
  <dc:identifier>DAG_O9PJ8CA</dc:identifier>
</cp:coreProperties>
</file>